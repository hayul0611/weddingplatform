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A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01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867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aYul0611/WeddingPlatform" TargetMode="External"/><Relationship Id="rId3" Type="http://schemas.openxmlformats.org/officeDocument/2006/relationships/image" Target="../media/image22.png"/><Relationship Id="rId7" Type="http://schemas.openxmlformats.org/officeDocument/2006/relationships/hyperlink" Target="https://wedding-platform-orpin-xi.vercel.app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7.jpeg"/><Relationship Id="rId5" Type="http://schemas.openxmlformats.org/officeDocument/2006/relationships/image" Target="../media/image24.png"/><Relationship Id="rId10" Type="http://schemas.openxmlformats.org/officeDocument/2006/relationships/image" Target="../media/image27.jpeg"/><Relationship Id="rId4" Type="http://schemas.openxmlformats.org/officeDocument/2006/relationships/image" Target="../media/image23.jpg"/><Relationship Id="rId9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895350"/>
            <a:ext cx="17145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18247" y="2343150"/>
            <a:ext cx="54515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350" kern="0" spc="567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CAPSTONE PROJECT PRESENTATION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692219" y="2781300"/>
            <a:ext cx="8903562" cy="3295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0" kern="0" spc="54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Wedding </a:t>
            </a:r>
            <a:r>
              <a:rPr lang="en-US" sz="9000" i="1" kern="0" spc="54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r>
              <a:rPr lang="en-US" sz="13500" kern="0" spc="54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6416102" y="6572250"/>
            <a:ext cx="54556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kern="0" spc="10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두 사람의 시작, 한 페이지에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945882" y="7583488"/>
            <a:ext cx="7620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987987" y="7410450"/>
            <a:ext cx="4311927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950" kern="0" spc="78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웨딩 추천 · 모바일 청첩장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1580019" y="7583488"/>
            <a:ext cx="7620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740922" y="8718550"/>
            <a:ext cx="89624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kern="0" spc="48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 표 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04447" y="9036050"/>
            <a:ext cx="11691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kern="0" spc="351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 하 율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8925173" y="8718550"/>
            <a:ext cx="9525" cy="6731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0086231" y="8718550"/>
            <a:ext cx="120213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kern="0" spc="48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 표 일 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691043" y="9036050"/>
            <a:ext cx="19925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kern="0" spc="351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2026. 05. 22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870212" y="9696450"/>
            <a:ext cx="265697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WEDDING PLATFORM · 2026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1434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705523" y="609600"/>
            <a:ext cx="64531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목차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905000"/>
            <a:ext cx="376753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0" kern="0" spc="42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4838899" y="2686050"/>
            <a:ext cx="102328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720" dirty="0">
                <a:solidFill>
                  <a:srgbClr val="5A4A3A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목 차</a:t>
            </a:r>
            <a:endParaRPr lang="en-US" sz="20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8200" y="5105400"/>
            <a:ext cx="78486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38200" y="4210050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828800" y="4279900"/>
            <a:ext cx="6181181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058547" y="4419600"/>
            <a:ext cx="70445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40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 01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38200" y="6216650"/>
            <a:ext cx="78486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828800" y="4673600"/>
            <a:ext cx="618118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9A8A78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표지</a:t>
            </a:r>
            <a:endParaRPr lang="en-US" sz="16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8200" y="5321300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828800" y="5391150"/>
            <a:ext cx="615839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36421" y="5530850"/>
            <a:ext cx="726579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40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 02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38200" y="7327900"/>
            <a:ext cx="78486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828800" y="5784850"/>
            <a:ext cx="615839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9A8A78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목차</a:t>
            </a:r>
            <a:endParaRPr lang="en-US" sz="16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8200" y="6432550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828800" y="6502400"/>
            <a:ext cx="615961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8037612" y="6642100"/>
            <a:ext cx="72538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40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 03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8200" y="8439150"/>
            <a:ext cx="78486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0" y="6896100"/>
            <a:ext cx="615961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9A8A78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프로젝트 개요</a:t>
            </a:r>
            <a:endParaRPr lang="en-US" sz="16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8200" y="7543800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828800" y="7613650"/>
            <a:ext cx="615716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Design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8035230" y="7753350"/>
            <a:ext cx="72777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40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 06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601200" y="5105400"/>
            <a:ext cx="78486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828800" y="8007350"/>
            <a:ext cx="615716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9A8A78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프로젝트 설계</a:t>
            </a:r>
            <a:endParaRPr lang="en-US" sz="16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01200" y="4210050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10591800" y="4279900"/>
            <a:ext cx="616932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6810038" y="4419600"/>
            <a:ext cx="71596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40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 23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601200" y="6216650"/>
            <a:ext cx="78486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591800" y="4673600"/>
            <a:ext cx="616932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9A8A78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세부 기능</a:t>
            </a:r>
            <a:endParaRPr lang="en-US" sz="16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601200" y="5321300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150" dirty="0"/>
          </a:p>
        </p:txBody>
      </p:sp>
      <p:sp>
        <p:nvSpPr>
          <p:cNvPr id="34" name="Text 32"/>
          <p:cNvSpPr/>
          <p:nvPr/>
        </p:nvSpPr>
        <p:spPr>
          <a:xfrm>
            <a:off x="10591800" y="5391150"/>
            <a:ext cx="616820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6808946" y="5530850"/>
            <a:ext cx="71705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40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 22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601200" y="7327900"/>
            <a:ext cx="78486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0591800" y="5784850"/>
            <a:ext cx="61682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9A8A78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시연</a:t>
            </a:r>
            <a:endParaRPr lang="en-US" sz="16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601200" y="6432550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150" dirty="0"/>
          </a:p>
        </p:txBody>
      </p:sp>
      <p:sp>
        <p:nvSpPr>
          <p:cNvPr id="39" name="Text 37"/>
          <p:cNvSpPr/>
          <p:nvPr/>
        </p:nvSpPr>
        <p:spPr>
          <a:xfrm>
            <a:off x="10591800" y="6502400"/>
            <a:ext cx="618424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2550" dirty="0"/>
          </a:p>
        </p:txBody>
      </p:sp>
      <p:sp>
        <p:nvSpPr>
          <p:cNvPr id="41" name="Text 39"/>
          <p:cNvSpPr/>
          <p:nvPr/>
        </p:nvSpPr>
        <p:spPr>
          <a:xfrm>
            <a:off x="16824524" y="6642100"/>
            <a:ext cx="70147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40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 18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601200" y="8439150"/>
            <a:ext cx="78486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591800" y="6896100"/>
            <a:ext cx="618424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9A8A78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소감 · 회고</a:t>
            </a:r>
            <a:endParaRPr lang="en-US" sz="16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601200" y="7543800"/>
            <a:ext cx="838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150" dirty="0"/>
          </a:p>
        </p:txBody>
      </p:sp>
      <p:sp>
        <p:nvSpPr>
          <p:cNvPr id="44" name="Text 42"/>
          <p:cNvSpPr/>
          <p:nvPr/>
        </p:nvSpPr>
        <p:spPr>
          <a:xfrm>
            <a:off x="10591800" y="7613650"/>
            <a:ext cx="616707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550" dirty="0"/>
          </a:p>
        </p:txBody>
      </p:sp>
      <p:sp>
        <p:nvSpPr>
          <p:cNvPr id="46" name="Text 44"/>
          <p:cNvSpPr/>
          <p:nvPr/>
        </p:nvSpPr>
        <p:spPr>
          <a:xfrm>
            <a:off x="16807855" y="7753350"/>
            <a:ext cx="718145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40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 24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591800" y="8007350"/>
            <a:ext cx="616707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9A8A78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질의응답</a:t>
            </a:r>
            <a:endParaRPr lang="en-US" sz="16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6830180" y="9696450"/>
            <a:ext cx="69582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24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18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38200" y="7143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466850" y="609600"/>
            <a:ext cx="12722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807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03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905000"/>
            <a:ext cx="6354198" cy="424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9000" kern="0" spc="156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9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9504" y="2667000"/>
            <a:ext cx="5255496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00" kern="0" spc="63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9504" y="3035300"/>
            <a:ext cx="5255496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0" kern="0" spc="360" dirty="0">
                <a:solidFill>
                  <a:srgbClr val="F3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</a:t>
            </a:r>
            <a:r>
              <a:rPr lang="en-US" sz="9000" i="1" kern="0" spc="3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1889504" y="5664200"/>
            <a:ext cx="5255496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4000" kern="0" spc="780" dirty="0">
                <a:solidFill>
                  <a:srgbClr val="C9B6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 로 젝 트 개 요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 flipV="1">
            <a:off x="12344400" y="6372225"/>
            <a:ext cx="4800600" cy="45719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 sz="4000"/>
          </a:p>
        </p:txBody>
      </p:sp>
      <p:sp>
        <p:nvSpPr>
          <p:cNvPr id="10" name="Text 8"/>
          <p:cNvSpPr/>
          <p:nvPr/>
        </p:nvSpPr>
        <p:spPr>
          <a:xfrm>
            <a:off x="11762072" y="6600825"/>
            <a:ext cx="5382928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80000"/>
              </a:lnSpc>
              <a:buNone/>
            </a:pPr>
            <a:r>
              <a:rPr lang="en-US" sz="2000" dirty="0">
                <a:solidFill>
                  <a:srgbClr val="9C8C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웨딩 추천과 모바일 청첩장을 하나로 잇는 SaaS 서비스의 기획 배경과 목표를 소개합니다.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831668" y="9696450"/>
            <a:ext cx="69433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807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24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4694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PROJECT OVERVIEW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031556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프로젝트 개요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19250"/>
            <a:ext cx="11772900" cy="1379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kern="0" spc="48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</a:t>
            </a:r>
            <a:r>
              <a:rPr lang="en-US" sz="4800" kern="0" spc="48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두 사람의 가장 빛나는 순간을, </a:t>
            </a:r>
            <a:br>
              <a:rPr lang="en-US" sz="4800" kern="0" spc="48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4800" kern="0" spc="48" dirty="0" err="1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디지털로</a:t>
            </a:r>
            <a:r>
              <a:rPr lang="en-US" sz="4800" kern="0" spc="48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가장 우아하게.</a:t>
            </a:r>
            <a:r>
              <a:rPr lang="en-US" sz="4800" kern="0" spc="48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38200" y="4095750"/>
            <a:ext cx="80448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441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8200" y="4425950"/>
            <a:ext cx="8318500" cy="1232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종이 청첩장은 정성스럽지만 무겁고, 기존 모바일 청첩장은 디자인이 획일적입니다.  </a:t>
            </a:r>
            <a:r>
              <a:rPr lang="en-US" sz="1600" dirty="0" err="1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또한</a:t>
            </a:r>
            <a:r>
              <a:rPr lang="en-US" sz="16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br>
              <a:rPr lang="en-US" sz="16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600" dirty="0" err="1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예비</a:t>
            </a:r>
            <a:r>
              <a:rPr lang="en-US" sz="16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부부는 </a:t>
            </a:r>
            <a:r>
              <a:rPr lang="en-US" sz="1600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예산·지역·스타일 </a:t>
            </a:r>
            <a:r>
              <a:rPr lang="en-US" sz="16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 맞는 업체를 찾기까지 수많은 카페와 후기를 헤매야 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" y="5848747"/>
            <a:ext cx="8044815" cy="853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b="1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Wedding Platform</a:t>
            </a:r>
            <a:r>
              <a:rPr lang="en-US" sz="16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은 </a:t>
            </a:r>
            <a:r>
              <a:rPr lang="en-US" sz="160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맞춤형 업체 추천</a:t>
            </a:r>
            <a:r>
              <a:rPr lang="en-US" sz="16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과 </a:t>
            </a:r>
            <a:r>
              <a:rPr lang="en-US" sz="160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모바일 청첩장 제작 </a:t>
            </a:r>
            <a:r>
              <a:rPr lang="en-US" sz="16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을 하나의 흐름으로 </a:t>
            </a:r>
            <a:r>
              <a:rPr lang="en-US" sz="1600" dirty="0" err="1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잇는</a:t>
            </a:r>
            <a:r>
              <a:rPr lang="en-US" sz="16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br>
              <a:rPr lang="en-US" sz="16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6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서비스입니다.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93968" y="7006828"/>
            <a:ext cx="132844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38200" y="7006828"/>
            <a:ext cx="1140619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77900" y="7070328"/>
            <a:ext cx="93741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12169" y="7006828"/>
            <a:ext cx="821035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51869" y="7070328"/>
            <a:ext cx="61783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6554" y="7006828"/>
            <a:ext cx="1276052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6254" y="7070328"/>
            <a:ext cx="1072852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75956" y="7006828"/>
            <a:ext cx="1458119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15656" y="7070328"/>
            <a:ext cx="125491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67425" y="7006828"/>
            <a:ext cx="1093192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07125" y="7070328"/>
            <a:ext cx="889992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33668" y="7070328"/>
            <a:ext cx="112524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8200" y="7406878"/>
            <a:ext cx="1041995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77900" y="7470378"/>
            <a:ext cx="83879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PORTONE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3545" y="7406878"/>
            <a:ext cx="897037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153245" y="7470378"/>
            <a:ext cx="69383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39300" y="4095750"/>
            <a:ext cx="3790950" cy="2301875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636125" y="4092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636125" y="4092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3293726" y="4092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3427076" y="4092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636125" y="63944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636125" y="626110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293726" y="63944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3427076" y="626110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950451" y="4445000"/>
            <a:ext cx="32637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19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9950451" y="5187950"/>
            <a:ext cx="32637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맞춤 업체 추천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863137" y="5562600"/>
            <a:ext cx="334327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1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예산·지역·스타일 입력 한 번으로 매칭 점수 기반 추천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658850" y="4095750"/>
            <a:ext cx="3790950" cy="2301875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3655676" y="4092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3655676" y="4092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7313276" y="4092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7446626" y="4092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3655676" y="63944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3655676" y="626110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7313276" y="63944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7446626" y="626110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3970001" y="4445000"/>
            <a:ext cx="32637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19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47" name="Text 45"/>
          <p:cNvSpPr/>
          <p:nvPr/>
        </p:nvSpPr>
        <p:spPr>
          <a:xfrm>
            <a:off x="13970001" y="5187950"/>
            <a:ext cx="32637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모바일 청첩장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3970001" y="5562600"/>
            <a:ext cx="32637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1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BGM · 지도 · 방명록 · RSVP 한 페이지에서 완성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639300" y="6626225"/>
            <a:ext cx="3790950" cy="2301875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636125" y="66230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9636125" y="662305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3293726" y="66230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3427076" y="662305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636125" y="892492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9636125" y="8791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3293726" y="892492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3427076" y="8791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9950451" y="6975475"/>
            <a:ext cx="32637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19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59" name="Text 57"/>
          <p:cNvSpPr/>
          <p:nvPr/>
        </p:nvSpPr>
        <p:spPr>
          <a:xfrm>
            <a:off x="9950451" y="7718425"/>
            <a:ext cx="32637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간편 축의금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9883142" y="8116887"/>
            <a:ext cx="348043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1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PortOne 연동 안전한 송금, 주최자 정산 대시보드 제공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3658850" y="6626225"/>
            <a:ext cx="3790950" cy="2301875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3655676" y="66230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3655676" y="662305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7313276" y="66230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7446626" y="662305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3655676" y="892492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13655676" y="8791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17313276" y="892492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7446626" y="8791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13970001" y="6975475"/>
            <a:ext cx="32637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19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71" name="Text 69"/>
          <p:cNvSpPr/>
          <p:nvPr/>
        </p:nvSpPr>
        <p:spPr>
          <a:xfrm>
            <a:off x="13970001" y="7718425"/>
            <a:ext cx="32637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구독 모델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13970001" y="8093075"/>
            <a:ext cx="32637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1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/ Premium 두 단계, 추천·통계 기능 차등 제공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16823432" y="9696450"/>
            <a:ext cx="70256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24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34098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TARGET &amp; DIFFERENTIATION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948833" y="609600"/>
            <a:ext cx="156954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사용자와 차별점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19250"/>
            <a:ext cx="536791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288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&amp; </a:t>
            </a:r>
            <a:r>
              <a:rPr lang="en-US" sz="7200" kern="0" spc="288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38200" y="2686050"/>
            <a:ext cx="536791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0" dirty="0">
                <a:solidFill>
                  <a:srgbClr val="5A4A3A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  <a:cs typeface="Georgia" pitchFamily="34" charset="-120"/>
              </a:rPr>
              <a:t>사용자와 차별 포인트</a:t>
            </a:r>
            <a:endParaRPr lang="en-US" sz="165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8200" y="4095750"/>
            <a:ext cx="3752850" cy="3567708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35025" y="4092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35025" y="4092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54525" y="4092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87875" y="4092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35025" y="766028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35025" y="752693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54525" y="766028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87875" y="752693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" y="4505325"/>
            <a:ext cx="419100" cy="4191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720850" y="4445000"/>
            <a:ext cx="16304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 · 주최자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720850" y="4660900"/>
            <a:ext cx="16304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예비 신랑 · 신부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29335" y="5337175"/>
            <a:ext cx="3326765" cy="1647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ko-KR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ko-KR" alt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부족한 시간</a:t>
            </a:r>
            <a:r>
              <a:rPr lang="en-US" altLang="ko-KR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흩어진 정보 속에서도 포기할 수 없는 나만의 감성</a:t>
            </a:r>
            <a:r>
              <a:rPr lang="en-US" altLang="ko-KR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ko-KR" alt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맞춤형 최적의 청첩장 업체를 추천합니다</a:t>
            </a:r>
            <a:r>
              <a:rPr lang="en-US" altLang="ko-KR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895850" y="4095750"/>
            <a:ext cx="3752850" cy="3567708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892675" y="4092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892675" y="4092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512175" y="4092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8645525" y="40925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4892675" y="766028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892675" y="752693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8512175" y="766028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8645525" y="752693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4505325"/>
            <a:ext cx="419100" cy="4191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778500" y="4445000"/>
            <a:ext cx="196185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· 하객</a:t>
            </a:r>
            <a:endParaRPr lang="en-US" sz="975" dirty="0"/>
          </a:p>
        </p:txBody>
      </p:sp>
      <p:sp>
        <p:nvSpPr>
          <p:cNvPr id="31" name="Text 27"/>
          <p:cNvSpPr/>
          <p:nvPr/>
        </p:nvSpPr>
        <p:spPr>
          <a:xfrm>
            <a:off x="5778500" y="4660900"/>
            <a:ext cx="19618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초대받은 친구·가족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5032375" y="5337175"/>
            <a:ext cx="3479800" cy="1938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ko-KR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ko-KR" alt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간단한 참석 답장</a:t>
            </a:r>
            <a:r>
              <a:rPr lang="en-US" altLang="ko-KR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확인하는 길 안내</a:t>
            </a:r>
            <a:r>
              <a:rPr lang="en-US" altLang="ko-KR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 모바일 축의금 송금까지</a:t>
            </a:r>
            <a:r>
              <a:rPr lang="en-US" altLang="ko-KR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ko-KR" alt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꼭 필요한 기능만 스마트하게 담았습니다</a:t>
            </a:r>
            <a:r>
              <a:rPr lang="en-US" altLang="ko-KR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9639300" y="4095750"/>
            <a:ext cx="80448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441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 · 차별 포인트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9639300" y="4419600"/>
            <a:ext cx="8044815" cy="1098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300" kern="0" spc="33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추천 → 제작 → 응대까지 </a:t>
            </a:r>
            <a:r>
              <a:rPr lang="en-US" sz="3300" i="1" kern="0" spc="33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하나의 흐름</a:t>
            </a:r>
            <a:r>
              <a:rPr lang="en-US" sz="3300" kern="0" spc="33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으로.</a:t>
            </a:r>
            <a:endParaRPr lang="en-US" sz="3300" dirty="0"/>
          </a:p>
        </p:txBody>
      </p:sp>
      <p:sp>
        <p:nvSpPr>
          <p:cNvPr id="35" name="Shape 31"/>
          <p:cNvSpPr/>
          <p:nvPr/>
        </p:nvSpPr>
        <p:spPr>
          <a:xfrm>
            <a:off x="9639300" y="5746750"/>
            <a:ext cx="7810500" cy="8636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9639300" y="5746750"/>
            <a:ext cx="19050" cy="8636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9867900" y="5918200"/>
            <a:ext cx="3526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kern="0" spc="10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</a:t>
            </a:r>
            <a:endParaRPr lang="en-US" sz="2550" dirty="0"/>
          </a:p>
        </p:txBody>
      </p:sp>
      <p:sp>
        <p:nvSpPr>
          <p:cNvPr id="38" name="Text 34"/>
          <p:cNvSpPr/>
          <p:nvPr/>
        </p:nvSpPr>
        <p:spPr>
          <a:xfrm>
            <a:off x="10315774" y="5918200"/>
            <a:ext cx="286381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선호도 기반 매칭 점수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10315774" y="6235700"/>
            <a:ext cx="286381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예산·지역·스타일·계절 다중 매칭, 점수로 정렬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9639300" y="6781800"/>
            <a:ext cx="7810500" cy="8636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9639300" y="6781800"/>
            <a:ext cx="19050" cy="8636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/>
          <p:nvPr/>
        </p:nvSpPr>
        <p:spPr>
          <a:xfrm>
            <a:off x="9867900" y="6953250"/>
            <a:ext cx="3707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kern="0" spc="10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</a:t>
            </a:r>
            <a:endParaRPr lang="en-US" sz="2550" dirty="0"/>
          </a:p>
        </p:txBody>
      </p:sp>
      <p:sp>
        <p:nvSpPr>
          <p:cNvPr id="43" name="Text 39"/>
          <p:cNvSpPr/>
          <p:nvPr/>
        </p:nvSpPr>
        <p:spPr>
          <a:xfrm>
            <a:off x="10333931" y="6953250"/>
            <a:ext cx="246528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미니멀·트렌디 청첩장 템플릿</a:t>
            </a:r>
            <a:endParaRPr lang="en-US" sz="1500" dirty="0"/>
          </a:p>
        </p:txBody>
      </p:sp>
      <p:sp>
        <p:nvSpPr>
          <p:cNvPr id="44" name="Text 40"/>
          <p:cNvSpPr/>
          <p:nvPr/>
        </p:nvSpPr>
        <p:spPr>
          <a:xfrm>
            <a:off x="10333931" y="7270750"/>
            <a:ext cx="246528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자체 디자인 토큰 기반의 일관된 우아함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9639300" y="7816850"/>
            <a:ext cx="7810500" cy="86360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2"/>
          <p:cNvSpPr/>
          <p:nvPr/>
        </p:nvSpPr>
        <p:spPr>
          <a:xfrm>
            <a:off x="9639300" y="7816850"/>
            <a:ext cx="19050" cy="8636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3"/>
          <p:cNvSpPr/>
          <p:nvPr/>
        </p:nvSpPr>
        <p:spPr>
          <a:xfrm>
            <a:off x="9867900" y="7988300"/>
            <a:ext cx="336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kern="0" spc="10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</a:t>
            </a:r>
            <a:endParaRPr lang="en-US" sz="2550" dirty="0"/>
          </a:p>
        </p:txBody>
      </p:sp>
      <p:sp>
        <p:nvSpPr>
          <p:cNvPr id="48" name="Text 44"/>
          <p:cNvSpPr/>
          <p:nvPr/>
        </p:nvSpPr>
        <p:spPr>
          <a:xfrm>
            <a:off x="10299700" y="7988300"/>
            <a:ext cx="253573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실시간 RSVP · 통계 대시보드</a:t>
            </a:r>
            <a:endParaRPr lang="en-US" sz="1500" dirty="0"/>
          </a:p>
        </p:txBody>
      </p:sp>
      <p:sp>
        <p:nvSpPr>
          <p:cNvPr id="49" name="Text 45"/>
          <p:cNvSpPr/>
          <p:nvPr/>
        </p:nvSpPr>
        <p:spPr>
          <a:xfrm>
            <a:off x="10299700" y="8305800"/>
            <a:ext cx="253573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참석/식사/동반인 자동 집계로 정산까지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51" name="Text 47"/>
          <p:cNvSpPr/>
          <p:nvPr/>
        </p:nvSpPr>
        <p:spPr>
          <a:xfrm>
            <a:off x="16829287" y="9696450"/>
            <a:ext cx="69671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24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18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38200" y="7143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466850" y="609600"/>
            <a:ext cx="127992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807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1215390" y="1905000"/>
            <a:ext cx="6421442" cy="424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9000" kern="0" spc="156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9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2667000"/>
            <a:ext cx="401852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3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TWO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035300"/>
            <a:ext cx="4018524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0" kern="0" spc="360" dirty="0">
                <a:solidFill>
                  <a:srgbClr val="F3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</a:t>
            </a:r>
            <a:r>
              <a:rPr lang="en-US" sz="9000" i="1" kern="0" spc="3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143000" y="5664200"/>
            <a:ext cx="4018524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kern="0" spc="780" dirty="0">
                <a:solidFill>
                  <a:srgbClr val="C9B6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 로 젝 트 설 계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143000" y="6362700"/>
            <a:ext cx="3619500" cy="45719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0" name="Text 8"/>
          <p:cNvSpPr/>
          <p:nvPr/>
        </p:nvSpPr>
        <p:spPr>
          <a:xfrm>
            <a:off x="1143000" y="6600825"/>
            <a:ext cx="4018524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2000" dirty="0">
                <a:solidFill>
                  <a:srgbClr val="9C8C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시스템 아키텍처, ER 다이어그램, 유스케이스, 테이블 </a:t>
            </a:r>
            <a:r>
              <a:rPr lang="en-US" sz="2000" dirty="0" err="1">
                <a:solidFill>
                  <a:srgbClr val="9C8C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정의서로</a:t>
            </a:r>
            <a:r>
              <a:rPr lang="en-US" sz="2000" dirty="0">
                <a:solidFill>
                  <a:srgbClr val="9C8C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br>
              <a:rPr lang="en-US" sz="2000" dirty="0">
                <a:solidFill>
                  <a:srgbClr val="9C8C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2000" dirty="0" err="1">
                <a:solidFill>
                  <a:srgbClr val="9C8C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살펴보는</a:t>
            </a:r>
            <a:r>
              <a:rPr lang="en-US" sz="2000" dirty="0">
                <a:solidFill>
                  <a:srgbClr val="9C8C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설계 구조.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821845" y="9696450"/>
            <a:ext cx="7041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807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24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30681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04-1 · SYSTEM ARCHITECTURE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617046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시스템 구성도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68533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68533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14 · Supabase · External APIs 기반 3-Tier 구조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897868" y="2165350"/>
            <a:ext cx="1153616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037568" y="2228850"/>
            <a:ext cx="95041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165785" y="2165350"/>
            <a:ext cx="1041598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5305485" y="2228850"/>
            <a:ext cx="838398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321683" y="2165350"/>
            <a:ext cx="1128117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61383" y="2228850"/>
            <a:ext cx="92491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38200" y="2667000"/>
            <a:ext cx="9967516" cy="6000750"/>
          </a:xfrm>
          <a:prstGeom prst="rect">
            <a:avLst/>
          </a:prstGeom>
          <a:solidFill>
            <a:srgbClr val="F8F1E5"/>
          </a:solid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2667000"/>
            <a:ext cx="9967516" cy="614974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262916" y="2667000"/>
            <a:ext cx="63724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262916" y="2857500"/>
            <a:ext cx="63724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모바일/데스크탑 브라우저 — 반응형 단일 코드베이스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262916" y="3565525"/>
            <a:ext cx="63724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· NEXT.JS 14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62916" y="3756025"/>
            <a:ext cx="637249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Router (SSR/CSR) · React Components · Tailwind CSS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262916" y="4406900"/>
            <a:ext cx="63724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· SUPABASE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262916" y="4597400"/>
            <a:ext cx="63724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· PostgreSQL DB · Storage 통합 SDK 호출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262916" y="5305425"/>
            <a:ext cx="63724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APIS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262916" y="5495925"/>
            <a:ext cx="6372491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(Naver/Kakao/Google) · Payment (PortOne) · Notification (Alimtalk)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6826608" y="9696450"/>
            <a:ext cx="69939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24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655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04-2 · USE CASE DIAGRAM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216698" y="609600"/>
            <a:ext cx="115282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유스케이스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38610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386104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· Host · Admin 3 액터 중심의 기능 흐름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866244" y="2165350"/>
            <a:ext cx="804863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005944" y="2228850"/>
            <a:ext cx="601662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785406" y="2165350"/>
            <a:ext cx="721023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5925106" y="2228850"/>
            <a:ext cx="517823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620729" y="2165350"/>
            <a:ext cx="829072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760429" y="2228850"/>
            <a:ext cx="625872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38200" y="2667000"/>
            <a:ext cx="10220127" cy="6000750"/>
          </a:xfrm>
          <a:prstGeom prst="rect">
            <a:avLst/>
          </a:prstGeom>
          <a:solidFill>
            <a:srgbClr val="FFFCF4"/>
          </a:solid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60957" y="2825849"/>
            <a:ext cx="9174612" cy="5606951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1515527" y="2667000"/>
            <a:ext cx="5934274" cy="1788616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1512352" y="266382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1512352" y="26638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17313276" y="266382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7446626" y="26638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11512352" y="4452442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1512352" y="4319092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17313276" y="4452442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17446626" y="4319092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11750477" y="2882900"/>
            <a:ext cx="562830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· 하객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756786" y="3164831"/>
            <a:ext cx="5660588" cy="10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청첩장 열람 / RSVP</a:t>
            </a:r>
            <a:endParaRPr lang="en-US" sz="135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방명록 작성 · 삭제</a:t>
            </a:r>
            <a:endParaRPr lang="en-US" sz="135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길안내 · 축의금 송금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1515527" y="4627066"/>
            <a:ext cx="5934274" cy="1788616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11512352" y="4623892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11512352" y="4623892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7313276" y="4623892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17446626" y="4623892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11512352" y="6412508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1512352" y="6279158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7313276" y="6412508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17446626" y="6279158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750477" y="4842967"/>
            <a:ext cx="562830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 · 주최자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756786" y="5124898"/>
            <a:ext cx="5660588" cy="10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청첩장 생성 · 수정</a:t>
            </a:r>
            <a:endParaRPr lang="en-US" sz="135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BGM 업로드 · 디자인 편집</a:t>
            </a:r>
            <a:endParaRPr lang="en-US" sz="135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하객 응답 통계 · 방명록 조회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11515527" y="6587133"/>
            <a:ext cx="5934274" cy="1421011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11512352" y="6583958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11512352" y="6583958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17313276" y="6583958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17446626" y="6583958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11512352" y="8004969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11512352" y="7871619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17313276" y="8004969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17446626" y="7871619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11750477" y="6803033"/>
            <a:ext cx="562830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· 관리자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1756786" y="7084964"/>
            <a:ext cx="5660588" cy="697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청첩장 · 결제 관리</a:t>
            </a:r>
            <a:endParaRPr lang="en-US" sz="135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 추천 데이터 관리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16818571" y="9696450"/>
            <a:ext cx="7074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24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19629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04-3 · ER DIAGRAM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525044" y="609600"/>
            <a:ext cx="14818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ER 다이어그램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70236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·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702368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8개 엔터티 — 청첩장·하객 응답·추천·결제 도메인을 명확히 분리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979651" y="2165350"/>
            <a:ext cx="102741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119351" y="2228850"/>
            <a:ext cx="8242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121360" y="2165350"/>
            <a:ext cx="132844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261060" y="2228850"/>
            <a:ext cx="112524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38200" y="2667000"/>
            <a:ext cx="10220127" cy="6000750"/>
          </a:xfrm>
          <a:prstGeom prst="rect">
            <a:avLst/>
          </a:prstGeom>
          <a:solidFill>
            <a:srgbClr val="F8F1E5"/>
          </a:solid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799" y="2778174"/>
            <a:ext cx="9761621" cy="572125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515527" y="2667000"/>
            <a:ext cx="611230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ENTITIES · 핵심 엔터티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515527" y="2978150"/>
            <a:ext cx="2919512" cy="6731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11674277" y="3117850"/>
            <a:ext cx="268007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14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674277" y="3333750"/>
            <a:ext cx="268007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회원 · 계정 정보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4530289" y="2978150"/>
            <a:ext cx="2919512" cy="6731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4689038" y="3117850"/>
            <a:ext cx="268007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14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4689038" y="3333750"/>
            <a:ext cx="268007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모바일 청첩장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515527" y="3746500"/>
            <a:ext cx="2919512" cy="6731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11674277" y="3886200"/>
            <a:ext cx="268007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14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1674277" y="4102100"/>
            <a:ext cx="268007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참석 응답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4530289" y="3746500"/>
            <a:ext cx="2919512" cy="6731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14689038" y="3886200"/>
            <a:ext cx="268007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14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4689038" y="4102100"/>
            <a:ext cx="268007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방명록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1515527" y="4514850"/>
            <a:ext cx="2919512" cy="6731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11674277" y="4654550"/>
            <a:ext cx="268007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14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674277" y="4870450"/>
            <a:ext cx="268007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축의금 · 구독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4530289" y="4514850"/>
            <a:ext cx="2919512" cy="6731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14689038" y="4654550"/>
            <a:ext cx="268007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14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4689038" y="4870450"/>
            <a:ext cx="268007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웨딩 선호도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1515527" y="5283200"/>
            <a:ext cx="2919512" cy="6731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1674277" y="5422900"/>
            <a:ext cx="268007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14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1674277" y="5638800"/>
            <a:ext cx="268007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추천 결과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4530289" y="5283200"/>
            <a:ext cx="2919512" cy="6731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14689038" y="5422900"/>
            <a:ext cx="268007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14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14689038" y="5638800"/>
            <a:ext cx="268007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찜한 업체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1515527" y="6232525"/>
            <a:ext cx="61123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50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</a:t>
            </a: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를 중심으로 </a:t>
            </a:r>
            <a:r>
              <a:rPr lang="en-US" sz="150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</a:t>
            </a: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파생되고, </a:t>
            </a:r>
            <a:r>
              <a:rPr lang="en-US" sz="150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→ RECOMMENDATION → SCRAP </a:t>
            </a: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흐름이 SaaS 영역을 구성합니다.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6821845" y="9696450"/>
            <a:ext cx="70415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24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5953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04-4 · TABLE DEFINITION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157464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테이블 정의서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55351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553510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대표 테이블 INVITATION — 모바일 청첩장의 핵심 스키마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015270" y="2165350"/>
            <a:ext cx="102741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154970" y="2228850"/>
            <a:ext cx="8242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156980" y="2165350"/>
            <a:ext cx="129282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296680" y="2228850"/>
            <a:ext cx="108962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 COLUMNS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2857500"/>
            <a:ext cx="27470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78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8200" y="3149600"/>
            <a:ext cx="2667000" cy="419100"/>
          </a:xfrm>
          <a:prstGeom prst="rect">
            <a:avLst/>
          </a:prstGeom>
          <a:solidFill>
            <a:srgbClr val="2B22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56945" y="3263900"/>
            <a:ext cx="24422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FB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 · 청첩장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8200" y="36639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56945" y="37846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· 회원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00500" y="2857500"/>
            <a:ext cx="18326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32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5928420" y="3028950"/>
            <a:ext cx="36907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청첩장 — 회원이 생성한 모바일 청첩장 기본 정보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00500" y="3940175"/>
            <a:ext cx="62865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71950" y="3619500"/>
            <a:ext cx="36195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29150" y="3940175"/>
            <a:ext cx="2577803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3619500"/>
            <a:ext cx="2312237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206953" y="3940175"/>
            <a:ext cx="2577803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378403" y="3619500"/>
            <a:ext cx="2312237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784755" y="3940175"/>
            <a:ext cx="1640384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956205" y="3619500"/>
            <a:ext cx="1373684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425139" y="3940175"/>
            <a:ext cx="4383981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1596589" y="3619500"/>
            <a:ext cx="417260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5809119" y="3940175"/>
            <a:ext cx="1640681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5980569" y="3619500"/>
            <a:ext cx="1373981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00500" y="44608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171950" y="40798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9150" y="44608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00600" y="40798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inv_id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06953" y="44608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7378403" y="40798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784755" y="4460875"/>
            <a:ext cx="16403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956205" y="4079875"/>
            <a:ext cx="13736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PK, NN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425139" y="4460875"/>
            <a:ext cx="43839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1596589" y="4079875"/>
            <a:ext cx="4172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청첩장 고유 식별자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5809119" y="4460875"/>
            <a:ext cx="16406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5980569" y="4079875"/>
            <a:ext cx="1373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00500" y="49815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171950" y="46005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29150" y="49815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00600" y="46005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206953" y="49815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378403" y="46005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784755" y="4981575"/>
            <a:ext cx="16403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956205" y="4600575"/>
            <a:ext cx="13736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FK, NN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1425139" y="4981575"/>
            <a:ext cx="43839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1596589" y="4600575"/>
            <a:ext cx="4172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청첩장을 생성한 회원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5809119" y="4981575"/>
            <a:ext cx="16406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5980569" y="4600575"/>
            <a:ext cx="1373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00500" y="55022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171950" y="51212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29150" y="55022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800600" y="51212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groom_name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206953" y="55022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378403" y="51212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784755" y="5502275"/>
            <a:ext cx="16403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9956205" y="5121275"/>
            <a:ext cx="13736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1425139" y="5502275"/>
            <a:ext cx="43839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11596589" y="5121275"/>
            <a:ext cx="4172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신랑 이름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5809119" y="5502275"/>
            <a:ext cx="16406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5980569" y="5121275"/>
            <a:ext cx="1373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000500" y="60229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171950" y="56419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29150" y="60229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800600" y="56419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bride_name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206953" y="60229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7378403" y="56419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9784755" y="6022975"/>
            <a:ext cx="16403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9956205" y="5641975"/>
            <a:ext cx="13736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1425139" y="6022975"/>
            <a:ext cx="43839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11596589" y="5641975"/>
            <a:ext cx="4172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신부 이름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15809119" y="6022975"/>
            <a:ext cx="16406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15980569" y="5641975"/>
            <a:ext cx="1373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000500" y="65436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171950" y="61626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29150" y="65436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800600" y="61626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wedding_date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7206953" y="65436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7378403" y="61626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9784755" y="6543675"/>
            <a:ext cx="16403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9956205" y="6162675"/>
            <a:ext cx="13736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11425139" y="6543675"/>
            <a:ext cx="43839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11596589" y="6162675"/>
            <a:ext cx="4172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예식 날짜 및 시간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5809119" y="6543675"/>
            <a:ext cx="16406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5980569" y="6162675"/>
            <a:ext cx="1373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000500" y="70643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4171950" y="66833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4629150" y="70643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4800600" y="66833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7206953" y="70643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7378403" y="66833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VARCHAR(255)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9784755" y="7064375"/>
            <a:ext cx="16403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9956205" y="6683375"/>
            <a:ext cx="13736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11425139" y="7064375"/>
            <a:ext cx="43839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11596589" y="6683375"/>
            <a:ext cx="4172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예식장 주소</a:t>
            </a:r>
            <a:endParaRPr lang="en-US" sz="1350" dirty="0"/>
          </a:p>
        </p:txBody>
      </p:sp>
      <p:sp>
        <p:nvSpPr>
          <p:cNvPr id="112" name="Shape 110"/>
          <p:cNvSpPr/>
          <p:nvPr/>
        </p:nvSpPr>
        <p:spPr>
          <a:xfrm>
            <a:off x="15809119" y="7064375"/>
            <a:ext cx="16406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15980569" y="6683375"/>
            <a:ext cx="1373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000500" y="75850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4171950" y="72040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629150" y="75850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/>
          <p:nvPr/>
        </p:nvSpPr>
        <p:spPr>
          <a:xfrm>
            <a:off x="4800600" y="72040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bgm_url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7206953" y="75850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/>
          <p:nvPr/>
        </p:nvSpPr>
        <p:spPr>
          <a:xfrm>
            <a:off x="7378403" y="72040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VARCHAR(255)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9784755" y="7585075"/>
            <a:ext cx="16403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9956205" y="7204075"/>
            <a:ext cx="13736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1425139" y="7585075"/>
            <a:ext cx="43839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/>
          <p:nvPr/>
        </p:nvSpPr>
        <p:spPr>
          <a:xfrm>
            <a:off x="11596589" y="7204075"/>
            <a:ext cx="4172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업로드된 BGM 파일 경로</a:t>
            </a:r>
            <a:endParaRPr lang="en-US" sz="1350" dirty="0"/>
          </a:p>
        </p:txBody>
      </p:sp>
      <p:sp>
        <p:nvSpPr>
          <p:cNvPr id="124" name="Shape 122"/>
          <p:cNvSpPr/>
          <p:nvPr/>
        </p:nvSpPr>
        <p:spPr>
          <a:xfrm>
            <a:off x="15809119" y="7585075"/>
            <a:ext cx="16406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/>
          <p:nvPr/>
        </p:nvSpPr>
        <p:spPr>
          <a:xfrm>
            <a:off x="15980569" y="7204075"/>
            <a:ext cx="1373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4000500" y="81057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/>
          <p:nvPr/>
        </p:nvSpPr>
        <p:spPr>
          <a:xfrm>
            <a:off x="4171950" y="77247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4629150" y="81057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/>
          <p:cNvSpPr/>
          <p:nvPr/>
        </p:nvSpPr>
        <p:spPr>
          <a:xfrm>
            <a:off x="4800600" y="77247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7206953" y="8105775"/>
            <a:ext cx="257780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9"/>
          <p:cNvSpPr/>
          <p:nvPr/>
        </p:nvSpPr>
        <p:spPr>
          <a:xfrm>
            <a:off x="7378403" y="7724775"/>
            <a:ext cx="2312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9784755" y="8105775"/>
            <a:ext cx="16403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/>
          <p:nvPr/>
        </p:nvSpPr>
        <p:spPr>
          <a:xfrm>
            <a:off x="9956205" y="7724775"/>
            <a:ext cx="13736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11425139" y="8105775"/>
            <a:ext cx="43839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/>
          <p:nvPr/>
        </p:nvSpPr>
        <p:spPr>
          <a:xfrm>
            <a:off x="11596589" y="7724775"/>
            <a:ext cx="4172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청첩장 생성 일시</a:t>
            </a:r>
            <a:endParaRPr lang="en-US" sz="1350" dirty="0"/>
          </a:p>
        </p:txBody>
      </p:sp>
      <p:sp>
        <p:nvSpPr>
          <p:cNvPr id="136" name="Shape 134"/>
          <p:cNvSpPr/>
          <p:nvPr/>
        </p:nvSpPr>
        <p:spPr>
          <a:xfrm>
            <a:off x="15809119" y="8105775"/>
            <a:ext cx="164068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/>
          <p:nvPr/>
        </p:nvSpPr>
        <p:spPr>
          <a:xfrm>
            <a:off x="15980569" y="7724775"/>
            <a:ext cx="1373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38" name="Text 136"/>
          <p:cNvSpPr/>
          <p:nvPr/>
        </p:nvSpPr>
        <p:spPr>
          <a:xfrm>
            <a:off x="4000500" y="8343900"/>
            <a:ext cx="129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975" dirty="0"/>
          </a:p>
        </p:txBody>
      </p:sp>
      <p:sp>
        <p:nvSpPr>
          <p:cNvPr id="139" name="Text 137"/>
          <p:cNvSpPr/>
          <p:nvPr/>
        </p:nvSpPr>
        <p:spPr>
          <a:xfrm>
            <a:off x="5449590" y="8343900"/>
            <a:ext cx="12736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</a:t>
            </a:r>
            <a:endParaRPr lang="en-US" sz="975" dirty="0"/>
          </a:p>
        </p:txBody>
      </p:sp>
      <p:sp>
        <p:nvSpPr>
          <p:cNvPr id="140" name="Text 138"/>
          <p:cNvSpPr/>
          <p:nvPr/>
        </p:nvSpPr>
        <p:spPr>
          <a:xfrm>
            <a:off x="6875661" y="8343900"/>
            <a:ext cx="115391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 · Not Null</a:t>
            </a:r>
            <a:endParaRPr lang="en-US" sz="975" dirty="0"/>
          </a:p>
        </p:txBody>
      </p:sp>
      <p:sp>
        <p:nvSpPr>
          <p:cNvPr id="141" name="Text 139"/>
          <p:cNvSpPr/>
          <p:nvPr/>
        </p:nvSpPr>
        <p:spPr>
          <a:xfrm>
            <a:off x="8181975" y="8343900"/>
            <a:ext cx="163909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· Auto Increment</a:t>
            </a:r>
            <a:endParaRPr lang="en-US" sz="975" dirty="0"/>
          </a:p>
        </p:txBody>
      </p:sp>
      <p:sp>
        <p:nvSpPr>
          <p:cNvPr id="142" name="Text 140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43" name="Text 141"/>
          <p:cNvSpPr/>
          <p:nvPr/>
        </p:nvSpPr>
        <p:spPr>
          <a:xfrm>
            <a:off x="16839506" y="9696450"/>
            <a:ext cx="68649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24</a:t>
            </a:r>
            <a:endParaRPr lang="en-US" sz="1050" dirty="0"/>
          </a:p>
        </p:txBody>
      </p:sp>
      <p:sp>
        <p:nvSpPr>
          <p:cNvPr id="145" name="Shape 14"/>
          <p:cNvSpPr/>
          <p:nvPr/>
        </p:nvSpPr>
        <p:spPr>
          <a:xfrm>
            <a:off x="838200" y="41910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Text 15"/>
          <p:cNvSpPr/>
          <p:nvPr/>
        </p:nvSpPr>
        <p:spPr>
          <a:xfrm>
            <a:off x="996950" y="43116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· 참석</a:t>
            </a:r>
            <a:endParaRPr lang="en-US" sz="1050" dirty="0"/>
          </a:p>
        </p:txBody>
      </p:sp>
      <p:sp>
        <p:nvSpPr>
          <p:cNvPr id="147" name="Shape 16"/>
          <p:cNvSpPr/>
          <p:nvPr/>
        </p:nvSpPr>
        <p:spPr>
          <a:xfrm>
            <a:off x="838200" y="47180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Text 17"/>
          <p:cNvSpPr/>
          <p:nvPr/>
        </p:nvSpPr>
        <p:spPr>
          <a:xfrm>
            <a:off x="996950" y="48387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 · 방명록</a:t>
            </a:r>
            <a:endParaRPr lang="en-US" sz="1050" dirty="0"/>
          </a:p>
        </p:txBody>
      </p:sp>
      <p:sp>
        <p:nvSpPr>
          <p:cNvPr id="149" name="Shape 18"/>
          <p:cNvSpPr/>
          <p:nvPr/>
        </p:nvSpPr>
        <p:spPr>
          <a:xfrm>
            <a:off x="838200" y="52451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Text 19"/>
          <p:cNvSpPr/>
          <p:nvPr/>
        </p:nvSpPr>
        <p:spPr>
          <a:xfrm>
            <a:off x="996950" y="53657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· 결제</a:t>
            </a:r>
            <a:endParaRPr lang="en-US" sz="1050" dirty="0"/>
          </a:p>
        </p:txBody>
      </p:sp>
      <p:sp>
        <p:nvSpPr>
          <p:cNvPr id="151" name="Shape 20"/>
          <p:cNvSpPr/>
          <p:nvPr/>
        </p:nvSpPr>
        <p:spPr>
          <a:xfrm>
            <a:off x="838200" y="57721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Text 21"/>
          <p:cNvSpPr/>
          <p:nvPr/>
        </p:nvSpPr>
        <p:spPr>
          <a:xfrm>
            <a:off x="996950" y="58928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· 선호도</a:t>
            </a:r>
            <a:endParaRPr lang="en-US" sz="1050" dirty="0"/>
          </a:p>
        </p:txBody>
      </p:sp>
      <p:sp>
        <p:nvSpPr>
          <p:cNvPr id="153" name="Shape 24"/>
          <p:cNvSpPr/>
          <p:nvPr/>
        </p:nvSpPr>
        <p:spPr>
          <a:xfrm>
            <a:off x="838200" y="6824247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Text 25"/>
          <p:cNvSpPr/>
          <p:nvPr/>
        </p:nvSpPr>
        <p:spPr>
          <a:xfrm>
            <a:off x="996950" y="6944897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 · 스크랩</a:t>
            </a:r>
            <a:endParaRPr lang="en-US" sz="1050" dirty="0"/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583BD5EF-19F2-0806-D310-6BCC3EA3CE2A}"/>
              </a:ext>
            </a:extLst>
          </p:cNvPr>
          <p:cNvGrpSpPr/>
          <p:nvPr/>
        </p:nvGrpSpPr>
        <p:grpSpPr>
          <a:xfrm>
            <a:off x="838200" y="6299200"/>
            <a:ext cx="2753360" cy="431800"/>
            <a:chOff x="838200" y="6299200"/>
            <a:chExt cx="2753360" cy="431800"/>
          </a:xfrm>
        </p:grpSpPr>
        <p:sp>
          <p:nvSpPr>
            <p:cNvPr id="156" name="Shape 22">
              <a:extLst>
                <a:ext uri="{FF2B5EF4-FFF2-40B4-BE49-F238E27FC236}">
                  <a16:creationId xmlns:a16="http://schemas.microsoft.com/office/drawing/2014/main" id="{794522FD-757C-ECD9-06F8-3CA473D1123D}"/>
                </a:ext>
              </a:extLst>
            </p:cNvPr>
            <p:cNvSpPr/>
            <p:nvPr/>
          </p:nvSpPr>
          <p:spPr>
            <a:xfrm>
              <a:off x="838200" y="6299200"/>
              <a:ext cx="2667000" cy="431800"/>
            </a:xfrm>
            <a:prstGeom prst="rect">
              <a:avLst/>
            </a:prstGeom>
            <a:ln w="6350">
              <a:solidFill>
                <a:srgbClr val="D9CDB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7" name="Text 23">
              <a:extLst>
                <a:ext uri="{FF2B5EF4-FFF2-40B4-BE49-F238E27FC236}">
                  <a16:creationId xmlns:a16="http://schemas.microsoft.com/office/drawing/2014/main" id="{4AC84744-90BC-7AD2-41D8-F5392AE9782A}"/>
                </a:ext>
              </a:extLst>
            </p:cNvPr>
            <p:cNvSpPr/>
            <p:nvPr/>
          </p:nvSpPr>
          <p:spPr>
            <a:xfrm>
              <a:off x="996950" y="6400600"/>
              <a:ext cx="2594610" cy="253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315" dirty="0">
                  <a:solidFill>
                    <a:srgbClr val="5A4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RECOMMENDATION · 추천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5953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04-4 · TABLE DEFINITION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157464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테이블 정의서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55351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553510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— 청첩장 플랫폼 사용자 계정 및 개인 정보 관리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662573" y="2165350"/>
            <a:ext cx="102741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802273" y="2228850"/>
            <a:ext cx="8242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804284" y="2165350"/>
            <a:ext cx="645517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943984" y="2228850"/>
            <a:ext cx="44231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2857500"/>
            <a:ext cx="27470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78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8200" y="31496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96950" y="32702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 · 청첩장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8200" y="3676650"/>
            <a:ext cx="2667000" cy="419100"/>
          </a:xfrm>
          <a:prstGeom prst="rect">
            <a:avLst/>
          </a:prstGeom>
          <a:solidFill>
            <a:srgbClr val="2B22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0600" y="3790950"/>
            <a:ext cx="24422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FB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· 회원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41910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6950" y="43116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· 참석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8200" y="47180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6950" y="48387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 · 방명록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8200" y="52451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96950" y="53657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· 결제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8200" y="57721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6950" y="58928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· 선호도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8200" y="6824247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96950" y="6944897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 · 스크랩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00500" y="2857500"/>
            <a:ext cx="15797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32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5675511" y="3028950"/>
            <a:ext cx="32708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회원 — 신랑 · 신부 계정과 구독 상태를 관리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00500" y="3940175"/>
            <a:ext cx="62865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71950" y="3619500"/>
            <a:ext cx="36195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29150" y="3940175"/>
            <a:ext cx="2117527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3619500"/>
            <a:ext cx="1850827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46677" y="3940175"/>
            <a:ext cx="2117527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918127" y="3619500"/>
            <a:ext cx="1850827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64203" y="3940175"/>
            <a:ext cx="2374206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035653" y="3619500"/>
            <a:ext cx="2107506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238409" y="3940175"/>
            <a:ext cx="506482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1409859" y="3619500"/>
            <a:ext cx="4873865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6303228" y="3940175"/>
            <a:ext cx="1146572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6474678" y="3619500"/>
            <a:ext cx="879872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00500" y="44608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171950" y="40798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9150" y="44608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00600" y="40798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746677" y="44608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918127" y="40798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864203" y="4460875"/>
            <a:ext cx="23742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035653" y="4079875"/>
            <a:ext cx="21075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PK, NN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238409" y="4460875"/>
            <a:ext cx="5064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1409859" y="4079875"/>
            <a:ext cx="487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고유 식별자 (UUID 또는 아이디)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6303228" y="4460875"/>
            <a:ext cx="114657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6474678" y="4079875"/>
            <a:ext cx="8798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00500" y="49815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171950" y="46005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29150" y="49815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00600" y="46005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746677" y="49815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918127" y="46005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VARCHAR(255)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864203" y="4981575"/>
            <a:ext cx="23742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035653" y="4600575"/>
            <a:ext cx="21075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1238409" y="4981575"/>
            <a:ext cx="5064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1409859" y="4600575"/>
            <a:ext cx="487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암호화된 비밀번호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6303228" y="4981575"/>
            <a:ext cx="114657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6474678" y="4600575"/>
            <a:ext cx="8798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00500" y="55022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171950" y="51212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29150" y="55022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800600" y="51212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746677" y="55022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6918127" y="51212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864203" y="5502275"/>
            <a:ext cx="23742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9035653" y="5121275"/>
            <a:ext cx="21075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1238409" y="5502275"/>
            <a:ext cx="5064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11409859" y="5121275"/>
            <a:ext cx="487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이름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6303228" y="5502275"/>
            <a:ext cx="114657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6474678" y="5121275"/>
            <a:ext cx="8798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000500" y="60229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171950" y="56419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29150" y="60229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800600" y="56419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746677" y="60229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6918127" y="56419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864203" y="6022975"/>
            <a:ext cx="23742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9035653" y="5641975"/>
            <a:ext cx="21075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NN, UNIQUE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1238409" y="6022975"/>
            <a:ext cx="5064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11409859" y="5641975"/>
            <a:ext cx="487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주소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16303228" y="6022975"/>
            <a:ext cx="114657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16474678" y="5641975"/>
            <a:ext cx="8798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000500" y="65436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171950" y="61626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29150" y="65436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800600" y="61626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746677" y="65436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6918127" y="61626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8864203" y="6543675"/>
            <a:ext cx="23742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9035653" y="6162675"/>
            <a:ext cx="21075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11238409" y="6543675"/>
            <a:ext cx="5064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11409859" y="6162675"/>
            <a:ext cx="487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6303228" y="6543675"/>
            <a:ext cx="114657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6474678" y="6162675"/>
            <a:ext cx="8798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000500" y="70643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4171950" y="66833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4629150" y="70643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4800600" y="66833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6746677" y="70643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6918127" y="66833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8864203" y="7064375"/>
            <a:ext cx="23742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9035653" y="6683375"/>
            <a:ext cx="21075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'free'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11238409" y="7064375"/>
            <a:ext cx="5064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11409859" y="6683375"/>
            <a:ext cx="487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/ premium 구독 플랜 상태</a:t>
            </a:r>
            <a:endParaRPr lang="en-US" sz="1350" dirty="0"/>
          </a:p>
        </p:txBody>
      </p:sp>
      <p:sp>
        <p:nvSpPr>
          <p:cNvPr id="112" name="Shape 110"/>
          <p:cNvSpPr/>
          <p:nvPr/>
        </p:nvSpPr>
        <p:spPr>
          <a:xfrm>
            <a:off x="16303228" y="7064375"/>
            <a:ext cx="114657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16474678" y="6683375"/>
            <a:ext cx="8798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000500" y="75850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4171950" y="72040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629150" y="75850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/>
          <p:nvPr/>
        </p:nvSpPr>
        <p:spPr>
          <a:xfrm>
            <a:off x="4800600" y="72040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746677" y="7585075"/>
            <a:ext cx="21175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/>
          <p:nvPr/>
        </p:nvSpPr>
        <p:spPr>
          <a:xfrm>
            <a:off x="6918127" y="7204075"/>
            <a:ext cx="18508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8864203" y="7585075"/>
            <a:ext cx="23742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9035653" y="7204075"/>
            <a:ext cx="21075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1238409" y="7585075"/>
            <a:ext cx="5064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/>
          <p:nvPr/>
        </p:nvSpPr>
        <p:spPr>
          <a:xfrm>
            <a:off x="11409859" y="7204075"/>
            <a:ext cx="487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생성 일시</a:t>
            </a:r>
            <a:endParaRPr lang="en-US" sz="1350" dirty="0"/>
          </a:p>
        </p:txBody>
      </p:sp>
      <p:sp>
        <p:nvSpPr>
          <p:cNvPr id="124" name="Shape 122"/>
          <p:cNvSpPr/>
          <p:nvPr/>
        </p:nvSpPr>
        <p:spPr>
          <a:xfrm>
            <a:off x="16303228" y="7585075"/>
            <a:ext cx="114657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/>
          <p:nvPr/>
        </p:nvSpPr>
        <p:spPr>
          <a:xfrm>
            <a:off x="16474678" y="7204075"/>
            <a:ext cx="8798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4000500" y="7823200"/>
            <a:ext cx="129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975" dirty="0"/>
          </a:p>
        </p:txBody>
      </p:sp>
      <p:sp>
        <p:nvSpPr>
          <p:cNvPr id="127" name="Text 125"/>
          <p:cNvSpPr/>
          <p:nvPr/>
        </p:nvSpPr>
        <p:spPr>
          <a:xfrm>
            <a:off x="5449590" y="7823200"/>
            <a:ext cx="12736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</a:t>
            </a:r>
            <a:endParaRPr lang="en-US" sz="975" dirty="0"/>
          </a:p>
        </p:txBody>
      </p:sp>
      <p:sp>
        <p:nvSpPr>
          <p:cNvPr id="128" name="Text 126"/>
          <p:cNvSpPr/>
          <p:nvPr/>
        </p:nvSpPr>
        <p:spPr>
          <a:xfrm>
            <a:off x="6875661" y="7823200"/>
            <a:ext cx="115391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 · Not Null</a:t>
            </a:r>
            <a:endParaRPr lang="en-US" sz="975" dirty="0"/>
          </a:p>
        </p:txBody>
      </p:sp>
      <p:sp>
        <p:nvSpPr>
          <p:cNvPr id="129" name="Text 127"/>
          <p:cNvSpPr/>
          <p:nvPr/>
        </p:nvSpPr>
        <p:spPr>
          <a:xfrm>
            <a:off x="8181975" y="7823200"/>
            <a:ext cx="163909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· Auto Increment</a:t>
            </a:r>
            <a:endParaRPr lang="en-US" sz="975" dirty="0"/>
          </a:p>
        </p:txBody>
      </p:sp>
      <p:sp>
        <p:nvSpPr>
          <p:cNvPr id="130" name="Text 128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31" name="Text 129"/>
          <p:cNvSpPr/>
          <p:nvPr/>
        </p:nvSpPr>
        <p:spPr>
          <a:xfrm>
            <a:off x="16858854" y="9696450"/>
            <a:ext cx="66714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24</a:t>
            </a:r>
            <a:endParaRPr lang="en-US" sz="1050" dirty="0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583BD5EF-19F2-0806-D310-6BCC3EA3CE2A}"/>
              </a:ext>
            </a:extLst>
          </p:cNvPr>
          <p:cNvGrpSpPr/>
          <p:nvPr/>
        </p:nvGrpSpPr>
        <p:grpSpPr>
          <a:xfrm>
            <a:off x="838200" y="6299200"/>
            <a:ext cx="2753360" cy="431800"/>
            <a:chOff x="838200" y="6299200"/>
            <a:chExt cx="2753360" cy="431800"/>
          </a:xfrm>
        </p:grpSpPr>
        <p:sp>
          <p:nvSpPr>
            <p:cNvPr id="133" name="Shape 22">
              <a:extLst>
                <a:ext uri="{FF2B5EF4-FFF2-40B4-BE49-F238E27FC236}">
                  <a16:creationId xmlns:a16="http://schemas.microsoft.com/office/drawing/2014/main" id="{794522FD-757C-ECD9-06F8-3CA473D1123D}"/>
                </a:ext>
              </a:extLst>
            </p:cNvPr>
            <p:cNvSpPr/>
            <p:nvPr/>
          </p:nvSpPr>
          <p:spPr>
            <a:xfrm>
              <a:off x="838200" y="6299200"/>
              <a:ext cx="2667000" cy="431800"/>
            </a:xfrm>
            <a:prstGeom prst="rect">
              <a:avLst/>
            </a:prstGeom>
            <a:ln w="6350">
              <a:solidFill>
                <a:srgbClr val="D9CDB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" name="Text 23">
              <a:extLst>
                <a:ext uri="{FF2B5EF4-FFF2-40B4-BE49-F238E27FC236}">
                  <a16:creationId xmlns:a16="http://schemas.microsoft.com/office/drawing/2014/main" id="{4AC84744-90BC-7AD2-41D8-F5392AE9782A}"/>
                </a:ext>
              </a:extLst>
            </p:cNvPr>
            <p:cNvSpPr/>
            <p:nvPr/>
          </p:nvSpPr>
          <p:spPr>
            <a:xfrm>
              <a:off x="996950" y="6400600"/>
              <a:ext cx="2594610" cy="253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315" dirty="0">
                  <a:solidFill>
                    <a:srgbClr val="5A4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RECOMMENDATION · 추천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5953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04-4 · TABLE DEFINITION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157464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테이블 정의서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55351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553510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— 하객의 예식 참석 여부 및 동반인 수 관리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663764" y="2165350"/>
            <a:ext cx="102741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803464" y="2228850"/>
            <a:ext cx="8242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805474" y="2165350"/>
            <a:ext cx="644327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945174" y="2228850"/>
            <a:ext cx="4411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2857500"/>
            <a:ext cx="27470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78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8200" y="31496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96950" y="32702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 · 청첩장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8200" y="36766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6950" y="37973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· 회원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4203700"/>
            <a:ext cx="2667000" cy="419100"/>
          </a:xfrm>
          <a:prstGeom prst="rect">
            <a:avLst/>
          </a:prstGeom>
          <a:solidFill>
            <a:srgbClr val="2B22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0600" y="4318000"/>
            <a:ext cx="24422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FB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· 참석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8200" y="47180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6950" y="48387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 · 방명록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8200" y="52451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96950" y="53657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· 결제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8200" y="57721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6950" y="58928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· 선호도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8200" y="6818446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96950" y="6939096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 · 스크랩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00500" y="2857500"/>
            <a:ext cx="8562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32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4952008" y="3028950"/>
            <a:ext cx="29231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참석여부 — 청첩장별 하객 응답을 수집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00500" y="3940175"/>
            <a:ext cx="62865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71950" y="3619500"/>
            <a:ext cx="36195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29150" y="3940175"/>
            <a:ext cx="2530277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3619500"/>
            <a:ext cx="2263577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59427" y="3940175"/>
            <a:ext cx="2011263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330877" y="3619500"/>
            <a:ext cx="1744563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70690" y="3940175"/>
            <a:ext cx="1881485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342140" y="3619500"/>
            <a:ext cx="1614785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052175" y="3940175"/>
            <a:ext cx="4516041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1223625" y="3619500"/>
            <a:ext cx="4308622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5568216" y="3940175"/>
            <a:ext cx="1881584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5739666" y="3619500"/>
            <a:ext cx="1614884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00500" y="44608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171950" y="40798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9150" y="4460875"/>
            <a:ext cx="253027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00600" y="4079875"/>
            <a:ext cx="2263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rsvp_id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59427" y="4460875"/>
            <a:ext cx="20112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7330877" y="4079875"/>
            <a:ext cx="1744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170690" y="4460875"/>
            <a:ext cx="188148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342140" y="4079875"/>
            <a:ext cx="1614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PK, NN, AI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052175" y="4460875"/>
            <a:ext cx="451604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1223625" y="4079875"/>
            <a:ext cx="43086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 식별자 (Auto Increment)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5568216" y="4460875"/>
            <a:ext cx="18815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5739666" y="4079875"/>
            <a:ext cx="16148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00500" y="49815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171950" y="46005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29150" y="4981575"/>
            <a:ext cx="253027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00600" y="4600575"/>
            <a:ext cx="2263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inv_id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59427" y="4981575"/>
            <a:ext cx="20112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330877" y="4600575"/>
            <a:ext cx="1744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170690" y="4981575"/>
            <a:ext cx="188148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342140" y="4600575"/>
            <a:ext cx="1614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FK, NN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1052175" y="4981575"/>
            <a:ext cx="451604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1223625" y="4600575"/>
            <a:ext cx="43086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청첩장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5568216" y="4981575"/>
            <a:ext cx="18815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5739666" y="4600575"/>
            <a:ext cx="16148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invitation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00500" y="55022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171950" y="51212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29150" y="5502275"/>
            <a:ext cx="253027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800600" y="5121275"/>
            <a:ext cx="2263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guest_name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159427" y="5502275"/>
            <a:ext cx="20112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330877" y="5121275"/>
            <a:ext cx="1744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170690" y="5502275"/>
            <a:ext cx="188148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9342140" y="5121275"/>
            <a:ext cx="1614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1052175" y="5502275"/>
            <a:ext cx="451604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11223625" y="5121275"/>
            <a:ext cx="43086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하객 이름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5568216" y="5502275"/>
            <a:ext cx="18815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5739666" y="5121275"/>
            <a:ext cx="16148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000500" y="60229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171950" y="56419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29150" y="6022975"/>
            <a:ext cx="253027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800600" y="5641975"/>
            <a:ext cx="2263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159427" y="6022975"/>
            <a:ext cx="20112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7330877" y="5641975"/>
            <a:ext cx="1744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9170690" y="6022975"/>
            <a:ext cx="188148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9342140" y="5641975"/>
            <a:ext cx="1614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1052175" y="6022975"/>
            <a:ext cx="451604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11223625" y="5641975"/>
            <a:ext cx="43086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하객 연락처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15568216" y="6022975"/>
            <a:ext cx="18815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15739666" y="5641975"/>
            <a:ext cx="16148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000500" y="65436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171950" y="61626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29150" y="6543675"/>
            <a:ext cx="253027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800600" y="6162675"/>
            <a:ext cx="2263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attend_status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7159427" y="6543675"/>
            <a:ext cx="20112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7330877" y="6162675"/>
            <a:ext cx="1744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VARCHAR(10)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9170690" y="6543675"/>
            <a:ext cx="188148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9342140" y="6162675"/>
            <a:ext cx="1614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11052175" y="6543675"/>
            <a:ext cx="451604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11223625" y="6162675"/>
            <a:ext cx="43086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참석 / 불참 / 미정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5568216" y="6543675"/>
            <a:ext cx="18815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5739666" y="6162675"/>
            <a:ext cx="16148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000500" y="70643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4171950" y="66833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4629150" y="7064375"/>
            <a:ext cx="253027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4800600" y="6683375"/>
            <a:ext cx="2263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meal_status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7159427" y="7064375"/>
            <a:ext cx="20112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7330877" y="6683375"/>
            <a:ext cx="1744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VARCHAR(10)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9170690" y="7064375"/>
            <a:ext cx="188148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9342140" y="6683375"/>
            <a:ext cx="1614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11052175" y="7064375"/>
            <a:ext cx="451604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11223625" y="6683375"/>
            <a:ext cx="43086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식사 / 안함</a:t>
            </a:r>
            <a:endParaRPr lang="en-US" sz="1350" dirty="0"/>
          </a:p>
        </p:txBody>
      </p:sp>
      <p:sp>
        <p:nvSpPr>
          <p:cNvPr id="112" name="Shape 110"/>
          <p:cNvSpPr/>
          <p:nvPr/>
        </p:nvSpPr>
        <p:spPr>
          <a:xfrm>
            <a:off x="15568216" y="7064375"/>
            <a:ext cx="18815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15739666" y="6683375"/>
            <a:ext cx="16148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000500" y="75850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4171950" y="72040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629150" y="7585075"/>
            <a:ext cx="253027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/>
          <p:nvPr/>
        </p:nvSpPr>
        <p:spPr>
          <a:xfrm>
            <a:off x="4800600" y="7204075"/>
            <a:ext cx="2263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companion_count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7159427" y="7585075"/>
            <a:ext cx="20112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/>
          <p:nvPr/>
        </p:nvSpPr>
        <p:spPr>
          <a:xfrm>
            <a:off x="7330877" y="7204075"/>
            <a:ext cx="1744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9170690" y="7585075"/>
            <a:ext cx="188148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9342140" y="7204075"/>
            <a:ext cx="1614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0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1052175" y="7585075"/>
            <a:ext cx="451604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/>
          <p:nvPr/>
        </p:nvSpPr>
        <p:spPr>
          <a:xfrm>
            <a:off x="11223625" y="7204075"/>
            <a:ext cx="43086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동반인 인원 수</a:t>
            </a:r>
            <a:endParaRPr lang="en-US" sz="1350" dirty="0"/>
          </a:p>
        </p:txBody>
      </p:sp>
      <p:sp>
        <p:nvSpPr>
          <p:cNvPr id="124" name="Shape 122"/>
          <p:cNvSpPr/>
          <p:nvPr/>
        </p:nvSpPr>
        <p:spPr>
          <a:xfrm>
            <a:off x="15568216" y="7585075"/>
            <a:ext cx="18815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/>
          <p:nvPr/>
        </p:nvSpPr>
        <p:spPr>
          <a:xfrm>
            <a:off x="15739666" y="7204075"/>
            <a:ext cx="16148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4000500" y="81057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/>
          <p:nvPr/>
        </p:nvSpPr>
        <p:spPr>
          <a:xfrm>
            <a:off x="4171950" y="77247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4629150" y="8105775"/>
            <a:ext cx="253027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/>
          <p:cNvSpPr/>
          <p:nvPr/>
        </p:nvSpPr>
        <p:spPr>
          <a:xfrm>
            <a:off x="4800600" y="7724775"/>
            <a:ext cx="2263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7159427" y="8105775"/>
            <a:ext cx="20112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9"/>
          <p:cNvSpPr/>
          <p:nvPr/>
        </p:nvSpPr>
        <p:spPr>
          <a:xfrm>
            <a:off x="7330877" y="7724775"/>
            <a:ext cx="1744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9170690" y="8105775"/>
            <a:ext cx="188148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/>
          <p:nvPr/>
        </p:nvSpPr>
        <p:spPr>
          <a:xfrm>
            <a:off x="9342140" y="7724775"/>
            <a:ext cx="1614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11052175" y="8105775"/>
            <a:ext cx="4516041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/>
          <p:nvPr/>
        </p:nvSpPr>
        <p:spPr>
          <a:xfrm>
            <a:off x="11223625" y="7724775"/>
            <a:ext cx="43086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일시</a:t>
            </a:r>
            <a:endParaRPr lang="en-US" sz="1350" dirty="0"/>
          </a:p>
        </p:txBody>
      </p:sp>
      <p:sp>
        <p:nvSpPr>
          <p:cNvPr id="136" name="Shape 134"/>
          <p:cNvSpPr/>
          <p:nvPr/>
        </p:nvSpPr>
        <p:spPr>
          <a:xfrm>
            <a:off x="15568216" y="8105775"/>
            <a:ext cx="188158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/>
          <p:nvPr/>
        </p:nvSpPr>
        <p:spPr>
          <a:xfrm>
            <a:off x="15739666" y="7724775"/>
            <a:ext cx="16148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38" name="Text 136"/>
          <p:cNvSpPr/>
          <p:nvPr/>
        </p:nvSpPr>
        <p:spPr>
          <a:xfrm>
            <a:off x="4000500" y="8343900"/>
            <a:ext cx="129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975" dirty="0"/>
          </a:p>
        </p:txBody>
      </p:sp>
      <p:sp>
        <p:nvSpPr>
          <p:cNvPr id="139" name="Text 137"/>
          <p:cNvSpPr/>
          <p:nvPr/>
        </p:nvSpPr>
        <p:spPr>
          <a:xfrm>
            <a:off x="5449590" y="8343900"/>
            <a:ext cx="12736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</a:t>
            </a:r>
            <a:endParaRPr lang="en-US" sz="975" dirty="0"/>
          </a:p>
        </p:txBody>
      </p:sp>
      <p:sp>
        <p:nvSpPr>
          <p:cNvPr id="140" name="Text 138"/>
          <p:cNvSpPr/>
          <p:nvPr/>
        </p:nvSpPr>
        <p:spPr>
          <a:xfrm>
            <a:off x="6875661" y="8343900"/>
            <a:ext cx="115391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 · Not Null</a:t>
            </a:r>
            <a:endParaRPr lang="en-US" sz="975" dirty="0"/>
          </a:p>
        </p:txBody>
      </p:sp>
      <p:sp>
        <p:nvSpPr>
          <p:cNvPr id="141" name="Text 139"/>
          <p:cNvSpPr/>
          <p:nvPr/>
        </p:nvSpPr>
        <p:spPr>
          <a:xfrm>
            <a:off x="8181975" y="8343900"/>
            <a:ext cx="163909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· Auto Increment</a:t>
            </a:r>
            <a:endParaRPr lang="en-US" sz="975" dirty="0"/>
          </a:p>
        </p:txBody>
      </p:sp>
      <p:sp>
        <p:nvSpPr>
          <p:cNvPr id="142" name="Text 140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43" name="Text 141"/>
          <p:cNvSpPr/>
          <p:nvPr/>
        </p:nvSpPr>
        <p:spPr>
          <a:xfrm>
            <a:off x="16849527" y="9696450"/>
            <a:ext cx="67647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24</a:t>
            </a:r>
            <a:endParaRPr lang="en-US" sz="1050" dirty="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4A461FF6-CBD7-6BFA-B49C-C742E3BE2F9B}"/>
              </a:ext>
            </a:extLst>
          </p:cNvPr>
          <p:cNvGrpSpPr/>
          <p:nvPr/>
        </p:nvGrpSpPr>
        <p:grpSpPr>
          <a:xfrm>
            <a:off x="838200" y="6299200"/>
            <a:ext cx="2747010" cy="431800"/>
            <a:chOff x="838200" y="6299200"/>
            <a:chExt cx="2747010" cy="431800"/>
          </a:xfrm>
        </p:grpSpPr>
        <p:sp>
          <p:nvSpPr>
            <p:cNvPr id="145" name="Shape 22">
              <a:extLst>
                <a:ext uri="{FF2B5EF4-FFF2-40B4-BE49-F238E27FC236}">
                  <a16:creationId xmlns:a16="http://schemas.microsoft.com/office/drawing/2014/main" id="{D95635F8-8FD3-EBDE-6D8C-EBC11050EBFC}"/>
                </a:ext>
              </a:extLst>
            </p:cNvPr>
            <p:cNvSpPr/>
            <p:nvPr/>
          </p:nvSpPr>
          <p:spPr>
            <a:xfrm>
              <a:off x="838200" y="6299200"/>
              <a:ext cx="2667000" cy="431800"/>
            </a:xfrm>
            <a:prstGeom prst="rect">
              <a:avLst/>
            </a:prstGeom>
            <a:ln w="6350">
              <a:solidFill>
                <a:srgbClr val="D9CDB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6" name="Text 23">
              <a:extLst>
                <a:ext uri="{FF2B5EF4-FFF2-40B4-BE49-F238E27FC236}">
                  <a16:creationId xmlns:a16="http://schemas.microsoft.com/office/drawing/2014/main" id="{DFB79A86-9C77-ADAB-8908-265D6BAF52AF}"/>
                </a:ext>
              </a:extLst>
            </p:cNvPr>
            <p:cNvSpPr/>
            <p:nvPr/>
          </p:nvSpPr>
          <p:spPr>
            <a:xfrm>
              <a:off x="990600" y="6400600"/>
              <a:ext cx="2594610" cy="253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315" dirty="0">
                  <a:solidFill>
                    <a:srgbClr val="5A4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RECOMMENDATION · 추천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5953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04-4 · TABLE DEFINITION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157464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테이블 정의서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55351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553510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 — 하객이 청첩장에 남긴 축하 메시지 관리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656719" y="2165350"/>
            <a:ext cx="102741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796419" y="2228850"/>
            <a:ext cx="8242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798429" y="2165350"/>
            <a:ext cx="651371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938129" y="2228850"/>
            <a:ext cx="4481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2857500"/>
            <a:ext cx="27470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78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8200" y="31496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96950" y="32702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 · 청첩장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8200" y="36766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6950" y="37973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· 회원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42037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6950" y="43243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· 참석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8200" y="4730750"/>
            <a:ext cx="2667000" cy="419100"/>
          </a:xfrm>
          <a:prstGeom prst="rect">
            <a:avLst/>
          </a:prstGeom>
          <a:solidFill>
            <a:srgbClr val="2B22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0600" y="4845050"/>
            <a:ext cx="24422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FB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 · 방명록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8200" y="52451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96950" y="53657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· 결제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8200" y="57721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6950" y="58928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· 선호도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8200" y="6827149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96950" y="6935273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 · 스크랩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00500" y="2857500"/>
            <a:ext cx="19200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32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6015832" y="3028950"/>
            <a:ext cx="39039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방명록 — 하객 메시지 저장과 본인글 삭제 권한 관리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00500" y="3940175"/>
            <a:ext cx="62865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71950" y="3619500"/>
            <a:ext cx="36195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29150" y="3940175"/>
            <a:ext cx="202694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3619500"/>
            <a:ext cx="176024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56090" y="3940175"/>
            <a:ext cx="2214265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827540" y="3619500"/>
            <a:ext cx="1947565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70355" y="3940175"/>
            <a:ext cx="1945878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041805" y="3619500"/>
            <a:ext cx="1679178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816233" y="3940175"/>
            <a:ext cx="4687292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0987683" y="3619500"/>
            <a:ext cx="4485011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5503526" y="3940175"/>
            <a:ext cx="1946275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5674976" y="3619500"/>
            <a:ext cx="1679575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00500" y="44608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171950" y="40798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9150" y="4460875"/>
            <a:ext cx="202694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00600" y="4079875"/>
            <a:ext cx="17602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gb_id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656090" y="4460875"/>
            <a:ext cx="22142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827540" y="4079875"/>
            <a:ext cx="19475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870355" y="4460875"/>
            <a:ext cx="194587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041805" y="4079875"/>
            <a:ext cx="167917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PK, NN, AI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816233" y="4460875"/>
            <a:ext cx="468729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0987683" y="4079875"/>
            <a:ext cx="44850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방명록 식별자 (Auto Increment)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5503526" y="4460875"/>
            <a:ext cx="194627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5674976" y="4079875"/>
            <a:ext cx="1679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00500" y="49815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171950" y="46005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29150" y="4981575"/>
            <a:ext cx="202694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00600" y="4600575"/>
            <a:ext cx="17602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inv_id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656090" y="4981575"/>
            <a:ext cx="22142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827540" y="4600575"/>
            <a:ext cx="19475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870355" y="4981575"/>
            <a:ext cx="194587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041805" y="4600575"/>
            <a:ext cx="167917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FK, NN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816233" y="4981575"/>
            <a:ext cx="468729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0987683" y="4600575"/>
            <a:ext cx="44850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메시지가 작성된 청첩장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5503526" y="4981575"/>
            <a:ext cx="194627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5674976" y="4600575"/>
            <a:ext cx="1679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invitation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00500" y="55022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171950" y="51212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29150" y="5502275"/>
            <a:ext cx="202694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800600" y="5121275"/>
            <a:ext cx="17602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guest_name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56090" y="5502275"/>
            <a:ext cx="22142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6827540" y="5121275"/>
            <a:ext cx="19475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870355" y="5502275"/>
            <a:ext cx="194587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9041805" y="5121275"/>
            <a:ext cx="167917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0816233" y="5502275"/>
            <a:ext cx="468729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10987683" y="5121275"/>
            <a:ext cx="44850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하객 이름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5503526" y="5502275"/>
            <a:ext cx="194627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5674976" y="5121275"/>
            <a:ext cx="1679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000500" y="60229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171950" y="56419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29150" y="6022975"/>
            <a:ext cx="202694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800600" y="5641975"/>
            <a:ext cx="17602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656090" y="6022975"/>
            <a:ext cx="22142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6827540" y="5641975"/>
            <a:ext cx="19475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VARCHAR(255)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870355" y="6022975"/>
            <a:ext cx="194587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9041805" y="5641975"/>
            <a:ext cx="167917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0816233" y="6022975"/>
            <a:ext cx="468729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10987683" y="5641975"/>
            <a:ext cx="44850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 삭제용 비밀번호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15503526" y="6022975"/>
            <a:ext cx="194627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15674976" y="5641975"/>
            <a:ext cx="1679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000500" y="65436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171950" y="61626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29150" y="6543675"/>
            <a:ext cx="202694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800600" y="6162675"/>
            <a:ext cx="17602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656090" y="6543675"/>
            <a:ext cx="22142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6827540" y="6162675"/>
            <a:ext cx="19475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8870355" y="6543675"/>
            <a:ext cx="194587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9041805" y="6162675"/>
            <a:ext cx="167917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10816233" y="6543675"/>
            <a:ext cx="468729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10987683" y="6162675"/>
            <a:ext cx="44850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축하 메시지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5503526" y="6543675"/>
            <a:ext cx="194627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5674976" y="6162675"/>
            <a:ext cx="1679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000500" y="70643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4171950" y="66833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4629150" y="7064375"/>
            <a:ext cx="202694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4800600" y="6683375"/>
            <a:ext cx="17602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6656090" y="7064375"/>
            <a:ext cx="22142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6827540" y="6683375"/>
            <a:ext cx="19475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8870355" y="7064375"/>
            <a:ext cx="194587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9041805" y="6683375"/>
            <a:ext cx="167917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10816233" y="7064375"/>
            <a:ext cx="468729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10987683" y="6683375"/>
            <a:ext cx="44850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일시</a:t>
            </a:r>
            <a:endParaRPr lang="en-US" sz="1350" dirty="0"/>
          </a:p>
        </p:txBody>
      </p:sp>
      <p:sp>
        <p:nvSpPr>
          <p:cNvPr id="112" name="Shape 110"/>
          <p:cNvSpPr/>
          <p:nvPr/>
        </p:nvSpPr>
        <p:spPr>
          <a:xfrm>
            <a:off x="15503526" y="7064375"/>
            <a:ext cx="194627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15674976" y="6683375"/>
            <a:ext cx="1679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4000500" y="7302500"/>
            <a:ext cx="129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975" dirty="0"/>
          </a:p>
        </p:txBody>
      </p:sp>
      <p:sp>
        <p:nvSpPr>
          <p:cNvPr id="115" name="Text 113"/>
          <p:cNvSpPr/>
          <p:nvPr/>
        </p:nvSpPr>
        <p:spPr>
          <a:xfrm>
            <a:off x="5449590" y="7302500"/>
            <a:ext cx="12736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</a:t>
            </a:r>
            <a:endParaRPr lang="en-US" sz="975" dirty="0"/>
          </a:p>
        </p:txBody>
      </p:sp>
      <p:sp>
        <p:nvSpPr>
          <p:cNvPr id="116" name="Text 114"/>
          <p:cNvSpPr/>
          <p:nvPr/>
        </p:nvSpPr>
        <p:spPr>
          <a:xfrm>
            <a:off x="6875661" y="7302500"/>
            <a:ext cx="115391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 · Not Null</a:t>
            </a:r>
            <a:endParaRPr lang="en-US" sz="975" dirty="0"/>
          </a:p>
        </p:txBody>
      </p:sp>
      <p:sp>
        <p:nvSpPr>
          <p:cNvPr id="117" name="Text 115"/>
          <p:cNvSpPr/>
          <p:nvPr/>
        </p:nvSpPr>
        <p:spPr>
          <a:xfrm>
            <a:off x="8181975" y="7302500"/>
            <a:ext cx="163909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· Auto Increment</a:t>
            </a:r>
            <a:endParaRPr lang="en-US" sz="975" dirty="0"/>
          </a:p>
        </p:txBody>
      </p:sp>
      <p:sp>
        <p:nvSpPr>
          <p:cNvPr id="118" name="Text 116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19" name="Text 117"/>
          <p:cNvSpPr/>
          <p:nvPr/>
        </p:nvSpPr>
        <p:spPr>
          <a:xfrm>
            <a:off x="16851016" y="9696450"/>
            <a:ext cx="67498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/ 24</a:t>
            </a:r>
            <a:endParaRPr lang="en-US" sz="1050" dirty="0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597CC8E6-451C-2476-EC1F-F4EC70AAB71A}"/>
              </a:ext>
            </a:extLst>
          </p:cNvPr>
          <p:cNvGrpSpPr/>
          <p:nvPr/>
        </p:nvGrpSpPr>
        <p:grpSpPr>
          <a:xfrm>
            <a:off x="838200" y="6299200"/>
            <a:ext cx="2747010" cy="431800"/>
            <a:chOff x="838200" y="6299200"/>
            <a:chExt cx="2747010" cy="431800"/>
          </a:xfrm>
        </p:grpSpPr>
        <p:sp>
          <p:nvSpPr>
            <p:cNvPr id="121" name="Shape 22">
              <a:extLst>
                <a:ext uri="{FF2B5EF4-FFF2-40B4-BE49-F238E27FC236}">
                  <a16:creationId xmlns:a16="http://schemas.microsoft.com/office/drawing/2014/main" id="{ABF4587A-B9C5-0B4A-4F93-C996BE0970DE}"/>
                </a:ext>
              </a:extLst>
            </p:cNvPr>
            <p:cNvSpPr/>
            <p:nvPr/>
          </p:nvSpPr>
          <p:spPr>
            <a:xfrm>
              <a:off x="838200" y="6299200"/>
              <a:ext cx="2667000" cy="431800"/>
            </a:xfrm>
            <a:prstGeom prst="rect">
              <a:avLst/>
            </a:prstGeom>
            <a:ln w="6350">
              <a:solidFill>
                <a:srgbClr val="D9CDB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2" name="Text 23">
              <a:extLst>
                <a:ext uri="{FF2B5EF4-FFF2-40B4-BE49-F238E27FC236}">
                  <a16:creationId xmlns:a16="http://schemas.microsoft.com/office/drawing/2014/main" id="{549EC448-5137-288D-7B1E-4D90AF660111}"/>
                </a:ext>
              </a:extLst>
            </p:cNvPr>
            <p:cNvSpPr/>
            <p:nvPr/>
          </p:nvSpPr>
          <p:spPr>
            <a:xfrm>
              <a:off x="990600" y="6400600"/>
              <a:ext cx="2594610" cy="253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315" dirty="0">
                  <a:solidFill>
                    <a:srgbClr val="5A4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RECOMMENDATION · 추천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5953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04-4 · TABLE DEFINITION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157464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테이블 정의서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56621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56621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— 간편 송금 연동을 통한 축의금 및 SaaS 구독 결제 내역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661779" y="2165350"/>
            <a:ext cx="102741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801479" y="2228850"/>
            <a:ext cx="8242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803489" y="2165350"/>
            <a:ext cx="646311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943189" y="2228850"/>
            <a:ext cx="44311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2857500"/>
            <a:ext cx="27470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78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8200" y="31496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96950" y="32702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 · 청첩장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8200" y="36766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6950" y="37973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· 회원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42037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6950" y="43243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· 참석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8200" y="47307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6950" y="48514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 · 방명록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8200" y="5257800"/>
            <a:ext cx="2667000" cy="419100"/>
          </a:xfrm>
          <a:prstGeom prst="rect">
            <a:avLst/>
          </a:prstGeom>
          <a:solidFill>
            <a:srgbClr val="2B22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90600" y="5372100"/>
            <a:ext cx="24422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FB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· 결제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8200" y="57721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6950" y="58928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· 선호도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6950" y="6944898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 · 스크랩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00500" y="2857500"/>
            <a:ext cx="16514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32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5747246" y="3028950"/>
            <a:ext cx="39389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결제내역 — 축의금 송금과 SaaS 구독 결제 이력 관리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00500" y="3940175"/>
            <a:ext cx="62865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71950" y="3619500"/>
            <a:ext cx="36195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29150" y="3940175"/>
            <a:ext cx="2267248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3619500"/>
            <a:ext cx="2000548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96398" y="3940175"/>
            <a:ext cx="2413595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067848" y="3619500"/>
            <a:ext cx="2146895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309993" y="3940175"/>
            <a:ext cx="1535906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481443" y="3619500"/>
            <a:ext cx="1269206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845900" y="3940175"/>
            <a:ext cx="4482604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1017350" y="3619500"/>
            <a:ext cx="4274182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5328504" y="3940175"/>
            <a:ext cx="2121297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5499954" y="3619500"/>
            <a:ext cx="1854597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00500" y="44608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171950" y="40798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9150" y="4460875"/>
            <a:ext cx="226724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00600" y="4079875"/>
            <a:ext cx="20005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pay_id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96398" y="4460875"/>
            <a:ext cx="241359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7067848" y="4079875"/>
            <a:ext cx="2146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309993" y="4460875"/>
            <a:ext cx="15359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481443" y="4079875"/>
            <a:ext cx="12692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PK, NN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845900" y="4460875"/>
            <a:ext cx="44826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1017350" y="4079875"/>
            <a:ext cx="42741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고유 식별자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5328504" y="4460875"/>
            <a:ext cx="212129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5499954" y="4079875"/>
            <a:ext cx="18545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00500" y="49815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171950" y="46005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29150" y="4981575"/>
            <a:ext cx="226724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00600" y="4600575"/>
            <a:ext cx="20005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6398" y="4981575"/>
            <a:ext cx="241359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067848" y="4600575"/>
            <a:ext cx="2146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309993" y="4981575"/>
            <a:ext cx="15359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481443" y="4600575"/>
            <a:ext cx="12692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FK, NN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845900" y="4981575"/>
            <a:ext cx="44826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1017350" y="4600575"/>
            <a:ext cx="42741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결제한 회원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5328504" y="4981575"/>
            <a:ext cx="212129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5499954" y="4600575"/>
            <a:ext cx="18545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00500" y="55022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171950" y="51212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29150" y="5502275"/>
            <a:ext cx="226724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800600" y="5121275"/>
            <a:ext cx="20005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inv_id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896398" y="5502275"/>
            <a:ext cx="241359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067848" y="5121275"/>
            <a:ext cx="2146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309993" y="5502275"/>
            <a:ext cx="15359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9481443" y="5121275"/>
            <a:ext cx="12692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0845900" y="5502275"/>
            <a:ext cx="44826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11017350" y="5121275"/>
            <a:ext cx="42741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청첩장 (축의금인 경우)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5328504" y="5502275"/>
            <a:ext cx="212129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5499954" y="5121275"/>
            <a:ext cx="18545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invitation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000500" y="60229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171950" y="56419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29150" y="6022975"/>
            <a:ext cx="226724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800600" y="5641975"/>
            <a:ext cx="20005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pay_type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896398" y="6022975"/>
            <a:ext cx="241359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7067848" y="5641975"/>
            <a:ext cx="2146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9309993" y="6022975"/>
            <a:ext cx="15359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9481443" y="5641975"/>
            <a:ext cx="12692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0845900" y="6022975"/>
            <a:ext cx="44826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11017350" y="5641975"/>
            <a:ext cx="42741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축의금 / SaaS 구독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15328504" y="6022975"/>
            <a:ext cx="212129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15499954" y="5641975"/>
            <a:ext cx="18545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000500" y="65436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171950" y="61626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29150" y="6543675"/>
            <a:ext cx="226724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800600" y="6162675"/>
            <a:ext cx="20005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sender_name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896398" y="6543675"/>
            <a:ext cx="241359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7067848" y="6162675"/>
            <a:ext cx="2146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9309993" y="6543675"/>
            <a:ext cx="15359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9481443" y="6162675"/>
            <a:ext cx="12692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10845900" y="6543675"/>
            <a:ext cx="44826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11017350" y="6162675"/>
            <a:ext cx="42741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축의금 보낸 하객 이름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5328504" y="6543675"/>
            <a:ext cx="212129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5499954" y="6162675"/>
            <a:ext cx="18545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000500" y="70643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4171950" y="66833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4629150" y="7064375"/>
            <a:ext cx="226724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4800600" y="6683375"/>
            <a:ext cx="20005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6896398" y="7064375"/>
            <a:ext cx="241359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7067848" y="6683375"/>
            <a:ext cx="2146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9309993" y="7064375"/>
            <a:ext cx="15359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9481443" y="6683375"/>
            <a:ext cx="12692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10845900" y="7064375"/>
            <a:ext cx="44826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11017350" y="6683375"/>
            <a:ext cx="42741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송금 또는 구독 결제 금액</a:t>
            </a:r>
            <a:endParaRPr lang="en-US" sz="1350" dirty="0"/>
          </a:p>
        </p:txBody>
      </p:sp>
      <p:sp>
        <p:nvSpPr>
          <p:cNvPr id="112" name="Shape 110"/>
          <p:cNvSpPr/>
          <p:nvPr/>
        </p:nvSpPr>
        <p:spPr>
          <a:xfrm>
            <a:off x="15328504" y="7064375"/>
            <a:ext cx="212129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15499954" y="6683375"/>
            <a:ext cx="18545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000500" y="75850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4171950" y="72040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629150" y="7585075"/>
            <a:ext cx="226724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/>
          <p:nvPr/>
        </p:nvSpPr>
        <p:spPr>
          <a:xfrm>
            <a:off x="4800600" y="7204075"/>
            <a:ext cx="20005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896398" y="7585075"/>
            <a:ext cx="241359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/>
          <p:nvPr/>
        </p:nvSpPr>
        <p:spPr>
          <a:xfrm>
            <a:off x="7067848" y="7204075"/>
            <a:ext cx="2146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9309993" y="7585075"/>
            <a:ext cx="15359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9481443" y="7204075"/>
            <a:ext cx="12692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0845900" y="7585075"/>
            <a:ext cx="44826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/>
          <p:nvPr/>
        </p:nvSpPr>
        <p:spPr>
          <a:xfrm>
            <a:off x="11017350" y="7204075"/>
            <a:ext cx="42741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/ 실패 / 취소</a:t>
            </a:r>
            <a:endParaRPr lang="en-US" sz="1350" dirty="0"/>
          </a:p>
        </p:txBody>
      </p:sp>
      <p:sp>
        <p:nvSpPr>
          <p:cNvPr id="124" name="Shape 122"/>
          <p:cNvSpPr/>
          <p:nvPr/>
        </p:nvSpPr>
        <p:spPr>
          <a:xfrm>
            <a:off x="15328504" y="7585075"/>
            <a:ext cx="212129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/>
          <p:nvPr/>
        </p:nvSpPr>
        <p:spPr>
          <a:xfrm>
            <a:off x="15499954" y="7204075"/>
            <a:ext cx="18545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4000500" y="81057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/>
          <p:nvPr/>
        </p:nvSpPr>
        <p:spPr>
          <a:xfrm>
            <a:off x="4171950" y="77247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4629150" y="8105775"/>
            <a:ext cx="226724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/>
          <p:cNvSpPr/>
          <p:nvPr/>
        </p:nvSpPr>
        <p:spPr>
          <a:xfrm>
            <a:off x="4800600" y="7724775"/>
            <a:ext cx="20005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6896398" y="8105775"/>
            <a:ext cx="241359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9"/>
          <p:cNvSpPr/>
          <p:nvPr/>
        </p:nvSpPr>
        <p:spPr>
          <a:xfrm>
            <a:off x="7067848" y="7724775"/>
            <a:ext cx="2146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9309993" y="8105775"/>
            <a:ext cx="153590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/>
          <p:nvPr/>
        </p:nvSpPr>
        <p:spPr>
          <a:xfrm>
            <a:off x="9481443" y="7724775"/>
            <a:ext cx="12692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10845900" y="8105775"/>
            <a:ext cx="44826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/>
          <p:nvPr/>
        </p:nvSpPr>
        <p:spPr>
          <a:xfrm>
            <a:off x="11017350" y="7724775"/>
            <a:ext cx="42741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일시</a:t>
            </a:r>
            <a:endParaRPr lang="en-US" sz="1350" dirty="0"/>
          </a:p>
        </p:txBody>
      </p:sp>
      <p:sp>
        <p:nvSpPr>
          <p:cNvPr id="136" name="Shape 134"/>
          <p:cNvSpPr/>
          <p:nvPr/>
        </p:nvSpPr>
        <p:spPr>
          <a:xfrm>
            <a:off x="15328504" y="8105775"/>
            <a:ext cx="212129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/>
          <p:nvPr/>
        </p:nvSpPr>
        <p:spPr>
          <a:xfrm>
            <a:off x="15499954" y="7724775"/>
            <a:ext cx="18545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38" name="Text 136"/>
          <p:cNvSpPr/>
          <p:nvPr/>
        </p:nvSpPr>
        <p:spPr>
          <a:xfrm>
            <a:off x="4000500" y="8343900"/>
            <a:ext cx="129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975" dirty="0"/>
          </a:p>
        </p:txBody>
      </p:sp>
      <p:sp>
        <p:nvSpPr>
          <p:cNvPr id="139" name="Text 137"/>
          <p:cNvSpPr/>
          <p:nvPr/>
        </p:nvSpPr>
        <p:spPr>
          <a:xfrm>
            <a:off x="5449590" y="8343900"/>
            <a:ext cx="12736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</a:t>
            </a:r>
            <a:endParaRPr lang="en-US" sz="975" dirty="0"/>
          </a:p>
        </p:txBody>
      </p:sp>
      <p:sp>
        <p:nvSpPr>
          <p:cNvPr id="140" name="Text 138"/>
          <p:cNvSpPr/>
          <p:nvPr/>
        </p:nvSpPr>
        <p:spPr>
          <a:xfrm>
            <a:off x="6875661" y="8343900"/>
            <a:ext cx="115391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 · Not Null</a:t>
            </a:r>
            <a:endParaRPr lang="en-US" sz="975" dirty="0"/>
          </a:p>
        </p:txBody>
      </p:sp>
      <p:sp>
        <p:nvSpPr>
          <p:cNvPr id="141" name="Text 139"/>
          <p:cNvSpPr/>
          <p:nvPr/>
        </p:nvSpPr>
        <p:spPr>
          <a:xfrm>
            <a:off x="8181975" y="8343900"/>
            <a:ext cx="163909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· Auto Increment</a:t>
            </a:r>
            <a:endParaRPr lang="en-US" sz="975" dirty="0"/>
          </a:p>
        </p:txBody>
      </p:sp>
      <p:sp>
        <p:nvSpPr>
          <p:cNvPr id="142" name="Text 140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43" name="Text 141"/>
          <p:cNvSpPr/>
          <p:nvPr/>
        </p:nvSpPr>
        <p:spPr>
          <a:xfrm>
            <a:off x="16842780" y="9696450"/>
            <a:ext cx="68322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24</a:t>
            </a:r>
            <a:endParaRPr lang="en-US" sz="1050" dirty="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B1D68B5C-DD30-AD2D-162A-8B3C147E0F56}"/>
              </a:ext>
            </a:extLst>
          </p:cNvPr>
          <p:cNvGrpSpPr/>
          <p:nvPr/>
        </p:nvGrpSpPr>
        <p:grpSpPr>
          <a:xfrm>
            <a:off x="838200" y="6299200"/>
            <a:ext cx="2747010" cy="431800"/>
            <a:chOff x="838200" y="6299200"/>
            <a:chExt cx="2747010" cy="431800"/>
          </a:xfrm>
        </p:grpSpPr>
        <p:sp>
          <p:nvSpPr>
            <p:cNvPr id="145" name="Shape 22">
              <a:extLst>
                <a:ext uri="{FF2B5EF4-FFF2-40B4-BE49-F238E27FC236}">
                  <a16:creationId xmlns:a16="http://schemas.microsoft.com/office/drawing/2014/main" id="{088750EA-1884-0EAD-A48E-D35527817336}"/>
                </a:ext>
              </a:extLst>
            </p:cNvPr>
            <p:cNvSpPr/>
            <p:nvPr/>
          </p:nvSpPr>
          <p:spPr>
            <a:xfrm>
              <a:off x="838200" y="6299200"/>
              <a:ext cx="2667000" cy="431800"/>
            </a:xfrm>
            <a:prstGeom prst="rect">
              <a:avLst/>
            </a:prstGeom>
            <a:ln w="6350">
              <a:solidFill>
                <a:srgbClr val="D9CDB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6" name="Text 23">
              <a:extLst>
                <a:ext uri="{FF2B5EF4-FFF2-40B4-BE49-F238E27FC236}">
                  <a16:creationId xmlns:a16="http://schemas.microsoft.com/office/drawing/2014/main" id="{6212B4E0-6A33-F5C5-294A-C90500374E47}"/>
                </a:ext>
              </a:extLst>
            </p:cNvPr>
            <p:cNvSpPr/>
            <p:nvPr/>
          </p:nvSpPr>
          <p:spPr>
            <a:xfrm>
              <a:off x="990600" y="6400600"/>
              <a:ext cx="2594610" cy="253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315" dirty="0">
                  <a:solidFill>
                    <a:srgbClr val="5A4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RECOMMENDATION · 추천</a:t>
              </a:r>
              <a:endParaRPr lang="en-US" sz="1050" dirty="0"/>
            </a:p>
          </p:txBody>
        </p:sp>
      </p:grpSp>
      <p:sp>
        <p:nvSpPr>
          <p:cNvPr id="147" name="Shape 24"/>
          <p:cNvSpPr/>
          <p:nvPr/>
        </p:nvSpPr>
        <p:spPr>
          <a:xfrm>
            <a:off x="838200" y="6827149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5953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04-4 · TABLE DEFINITION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157464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테이블 정의서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1479072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1479072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— [SaaS] 회원이 입력한 웨딩 관련 선호도 정보 저장 (맞춤 추천 기반 데이터)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655330" y="2165350"/>
            <a:ext cx="102741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795030" y="2228850"/>
            <a:ext cx="8242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797040" y="2165350"/>
            <a:ext cx="65276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936740" y="2228850"/>
            <a:ext cx="44956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2857500"/>
            <a:ext cx="27470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78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8200" y="31496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96950" y="32702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 · 청첩장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8200" y="36766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6950" y="37973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· 회원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42037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6950" y="43243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· 참석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8200" y="47307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6950" y="48514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 · 방명록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8200" y="52578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96950" y="53784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· 결제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8200" y="5784850"/>
            <a:ext cx="2667000" cy="419100"/>
          </a:xfrm>
          <a:prstGeom prst="rect">
            <a:avLst/>
          </a:prstGeom>
          <a:solidFill>
            <a:srgbClr val="2B22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0600" y="5899150"/>
            <a:ext cx="24422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FB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· 선호도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8200" y="6824248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96950" y="6944898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 · 스크랩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00500" y="2857500"/>
            <a:ext cx="199419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32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6089948" y="3028950"/>
            <a:ext cx="40878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웨딩 선호도 — 회원이 입력한 예산 · 지역 · 스타일 정보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00500" y="3940175"/>
            <a:ext cx="62865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71950" y="3619500"/>
            <a:ext cx="36195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29150" y="3940175"/>
            <a:ext cx="2154932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3619500"/>
            <a:ext cx="1888232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84082" y="3940175"/>
            <a:ext cx="2293938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955532" y="3619500"/>
            <a:ext cx="2027238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78020" y="3940175"/>
            <a:ext cx="2015927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249470" y="3619500"/>
            <a:ext cx="1749227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093946" y="3940175"/>
            <a:ext cx="489585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1265396" y="3619500"/>
            <a:ext cx="4699826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5989796" y="3940175"/>
            <a:ext cx="1460004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6161246" y="3619500"/>
            <a:ext cx="1193304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00500" y="44608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171950" y="40798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9150" y="4460875"/>
            <a:ext cx="215493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00600" y="4079875"/>
            <a:ext cx="1888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pref_id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784082" y="4460875"/>
            <a:ext cx="229393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955532" y="4079875"/>
            <a:ext cx="2027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078020" y="4460875"/>
            <a:ext cx="20159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249470" y="4079875"/>
            <a:ext cx="17492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PK, NN, AI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093946" y="4460875"/>
            <a:ext cx="48958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1265396" y="4079875"/>
            <a:ext cx="4699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선호도 식별자 (Auto Increment)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5989796" y="4460875"/>
            <a:ext cx="14600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6161246" y="4079875"/>
            <a:ext cx="1193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00500" y="49815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171950" y="46005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29150" y="4981575"/>
            <a:ext cx="215493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00600" y="4600575"/>
            <a:ext cx="1888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784082" y="4981575"/>
            <a:ext cx="229393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955532" y="4600575"/>
            <a:ext cx="2027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078020" y="4981575"/>
            <a:ext cx="20159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249470" y="4600575"/>
            <a:ext cx="17492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FK, NN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1093946" y="4981575"/>
            <a:ext cx="48958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1265396" y="4600575"/>
            <a:ext cx="4699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선호도를 입력한 회원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5989796" y="4981575"/>
            <a:ext cx="14600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6161246" y="4600575"/>
            <a:ext cx="1193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00500" y="55022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171950" y="51212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29150" y="5502275"/>
            <a:ext cx="215493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800600" y="5121275"/>
            <a:ext cx="1888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budget_min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784082" y="5502275"/>
            <a:ext cx="229393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6955532" y="5121275"/>
            <a:ext cx="2027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078020" y="5502275"/>
            <a:ext cx="20159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9249470" y="5121275"/>
            <a:ext cx="17492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1093946" y="5502275"/>
            <a:ext cx="48958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11265396" y="5121275"/>
            <a:ext cx="4699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희망 최소 예산 (만원 단위)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5989796" y="5502275"/>
            <a:ext cx="14600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6161246" y="5121275"/>
            <a:ext cx="1193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000500" y="60229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171950" y="56419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29150" y="6022975"/>
            <a:ext cx="215493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800600" y="5641975"/>
            <a:ext cx="1888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budget_max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784082" y="6022975"/>
            <a:ext cx="229393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6955532" y="5641975"/>
            <a:ext cx="2027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9078020" y="6022975"/>
            <a:ext cx="20159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9249470" y="5641975"/>
            <a:ext cx="17492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1093946" y="6022975"/>
            <a:ext cx="48958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11265396" y="5641975"/>
            <a:ext cx="4699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희망 최대 예산 (만원 단위)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15989796" y="6022975"/>
            <a:ext cx="14600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16161246" y="5641975"/>
            <a:ext cx="1193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000500" y="65436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171950" y="61626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29150" y="6543675"/>
            <a:ext cx="215493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800600" y="6162675"/>
            <a:ext cx="1888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784082" y="6543675"/>
            <a:ext cx="229393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6955532" y="6162675"/>
            <a:ext cx="2027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9078020" y="6543675"/>
            <a:ext cx="20159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9249470" y="6162675"/>
            <a:ext cx="17492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11093946" y="6543675"/>
            <a:ext cx="48958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11265396" y="6162675"/>
            <a:ext cx="4699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희망 예식장 지역 (예: 서울, 경기)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5989796" y="6543675"/>
            <a:ext cx="14600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6161246" y="6162675"/>
            <a:ext cx="1193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000500" y="70643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4171950" y="66833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4629150" y="7064375"/>
            <a:ext cx="215493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4800600" y="6683375"/>
            <a:ext cx="1888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6784082" y="7064375"/>
            <a:ext cx="229393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6955532" y="6683375"/>
            <a:ext cx="2027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9078020" y="7064375"/>
            <a:ext cx="20159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9249470" y="6683375"/>
            <a:ext cx="17492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11093946" y="7064375"/>
            <a:ext cx="48958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11265396" y="6683375"/>
            <a:ext cx="4699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봄 / 여름 / 가을 / 겨울</a:t>
            </a:r>
            <a:endParaRPr lang="en-US" sz="1350" dirty="0"/>
          </a:p>
        </p:txBody>
      </p:sp>
      <p:sp>
        <p:nvSpPr>
          <p:cNvPr id="112" name="Shape 110"/>
          <p:cNvSpPr/>
          <p:nvPr/>
        </p:nvSpPr>
        <p:spPr>
          <a:xfrm>
            <a:off x="15989796" y="7064375"/>
            <a:ext cx="14600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16161246" y="6683375"/>
            <a:ext cx="1193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000500" y="75850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4171950" y="72040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629150" y="7585075"/>
            <a:ext cx="215493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/>
          <p:nvPr/>
        </p:nvSpPr>
        <p:spPr>
          <a:xfrm>
            <a:off x="4800600" y="7204075"/>
            <a:ext cx="1888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784082" y="7585075"/>
            <a:ext cx="229393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/>
          <p:nvPr/>
        </p:nvSpPr>
        <p:spPr>
          <a:xfrm>
            <a:off x="6955532" y="7204075"/>
            <a:ext cx="2027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9078020" y="7585075"/>
            <a:ext cx="20159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9249470" y="7204075"/>
            <a:ext cx="17492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1093946" y="7585075"/>
            <a:ext cx="48958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/>
          <p:nvPr/>
        </p:nvSpPr>
        <p:spPr>
          <a:xfrm>
            <a:off x="11265396" y="7204075"/>
            <a:ext cx="4699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모던 / 럭셔리 / 내추럴 / 클래식</a:t>
            </a:r>
            <a:endParaRPr lang="en-US" sz="1350" dirty="0"/>
          </a:p>
        </p:txBody>
      </p:sp>
      <p:sp>
        <p:nvSpPr>
          <p:cNvPr id="124" name="Shape 122"/>
          <p:cNvSpPr/>
          <p:nvPr/>
        </p:nvSpPr>
        <p:spPr>
          <a:xfrm>
            <a:off x="15989796" y="7585075"/>
            <a:ext cx="14600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/>
          <p:nvPr/>
        </p:nvSpPr>
        <p:spPr>
          <a:xfrm>
            <a:off x="16161246" y="7204075"/>
            <a:ext cx="1193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4000500" y="81057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/>
          <p:nvPr/>
        </p:nvSpPr>
        <p:spPr>
          <a:xfrm>
            <a:off x="4171950" y="77247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4629150" y="8105775"/>
            <a:ext cx="215493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/>
          <p:cNvSpPr/>
          <p:nvPr/>
        </p:nvSpPr>
        <p:spPr>
          <a:xfrm>
            <a:off x="4800600" y="7724775"/>
            <a:ext cx="1888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guest_count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6784082" y="8105775"/>
            <a:ext cx="229393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9"/>
          <p:cNvSpPr/>
          <p:nvPr/>
        </p:nvSpPr>
        <p:spPr>
          <a:xfrm>
            <a:off x="6955532" y="7724775"/>
            <a:ext cx="2027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9078020" y="8105775"/>
            <a:ext cx="20159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/>
          <p:nvPr/>
        </p:nvSpPr>
        <p:spPr>
          <a:xfrm>
            <a:off x="9249470" y="7724775"/>
            <a:ext cx="17492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11093946" y="8105775"/>
            <a:ext cx="48958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/>
          <p:nvPr/>
        </p:nvSpPr>
        <p:spPr>
          <a:xfrm>
            <a:off x="11265396" y="7724775"/>
            <a:ext cx="4699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하객 인원 수</a:t>
            </a:r>
            <a:endParaRPr lang="en-US" sz="1350" dirty="0"/>
          </a:p>
        </p:txBody>
      </p:sp>
      <p:sp>
        <p:nvSpPr>
          <p:cNvPr id="136" name="Shape 134"/>
          <p:cNvSpPr/>
          <p:nvPr/>
        </p:nvSpPr>
        <p:spPr>
          <a:xfrm>
            <a:off x="15989796" y="8105775"/>
            <a:ext cx="14600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/>
          <p:nvPr/>
        </p:nvSpPr>
        <p:spPr>
          <a:xfrm>
            <a:off x="16161246" y="7724775"/>
            <a:ext cx="1193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4000500" y="86264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7"/>
          <p:cNvSpPr/>
          <p:nvPr/>
        </p:nvSpPr>
        <p:spPr>
          <a:xfrm>
            <a:off x="4171950" y="82454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4629150" y="8626475"/>
            <a:ext cx="2154932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" name="Text 139"/>
          <p:cNvSpPr/>
          <p:nvPr/>
        </p:nvSpPr>
        <p:spPr>
          <a:xfrm>
            <a:off x="4800600" y="8245475"/>
            <a:ext cx="1888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6784082" y="8626475"/>
            <a:ext cx="229393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Text 141"/>
          <p:cNvSpPr/>
          <p:nvPr/>
        </p:nvSpPr>
        <p:spPr>
          <a:xfrm>
            <a:off x="6955532" y="8245475"/>
            <a:ext cx="20272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44" name="Shape 142"/>
          <p:cNvSpPr/>
          <p:nvPr/>
        </p:nvSpPr>
        <p:spPr>
          <a:xfrm>
            <a:off x="9078020" y="8626475"/>
            <a:ext cx="201592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143"/>
          <p:cNvSpPr/>
          <p:nvPr/>
        </p:nvSpPr>
        <p:spPr>
          <a:xfrm>
            <a:off x="9249470" y="8245475"/>
            <a:ext cx="17492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11093946" y="8626475"/>
            <a:ext cx="48958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/>
          <p:cNvSpPr/>
          <p:nvPr/>
        </p:nvSpPr>
        <p:spPr>
          <a:xfrm>
            <a:off x="11265396" y="8245475"/>
            <a:ext cx="4699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선호도 입력 일시</a:t>
            </a:r>
            <a:endParaRPr lang="en-US" sz="1350" dirty="0"/>
          </a:p>
        </p:txBody>
      </p:sp>
      <p:sp>
        <p:nvSpPr>
          <p:cNvPr id="148" name="Shape 146"/>
          <p:cNvSpPr/>
          <p:nvPr/>
        </p:nvSpPr>
        <p:spPr>
          <a:xfrm>
            <a:off x="15989796" y="8626475"/>
            <a:ext cx="1460004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Text 147"/>
          <p:cNvSpPr/>
          <p:nvPr/>
        </p:nvSpPr>
        <p:spPr>
          <a:xfrm>
            <a:off x="16161246" y="8245475"/>
            <a:ext cx="1193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50" name="Text 148"/>
          <p:cNvSpPr/>
          <p:nvPr/>
        </p:nvSpPr>
        <p:spPr>
          <a:xfrm>
            <a:off x="4000500" y="8864600"/>
            <a:ext cx="129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975" dirty="0"/>
          </a:p>
        </p:txBody>
      </p:sp>
      <p:sp>
        <p:nvSpPr>
          <p:cNvPr id="151" name="Text 149"/>
          <p:cNvSpPr/>
          <p:nvPr/>
        </p:nvSpPr>
        <p:spPr>
          <a:xfrm>
            <a:off x="5449590" y="8864600"/>
            <a:ext cx="12736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</a:t>
            </a:r>
            <a:endParaRPr lang="en-US" sz="975" dirty="0"/>
          </a:p>
        </p:txBody>
      </p:sp>
      <p:sp>
        <p:nvSpPr>
          <p:cNvPr id="152" name="Text 150"/>
          <p:cNvSpPr/>
          <p:nvPr/>
        </p:nvSpPr>
        <p:spPr>
          <a:xfrm>
            <a:off x="6875661" y="8864600"/>
            <a:ext cx="115391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 · Not Null</a:t>
            </a:r>
            <a:endParaRPr lang="en-US" sz="975" dirty="0"/>
          </a:p>
        </p:txBody>
      </p:sp>
      <p:sp>
        <p:nvSpPr>
          <p:cNvPr id="153" name="Text 151"/>
          <p:cNvSpPr/>
          <p:nvPr/>
        </p:nvSpPr>
        <p:spPr>
          <a:xfrm>
            <a:off x="8181975" y="8864600"/>
            <a:ext cx="163909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· Auto Increment</a:t>
            </a:r>
            <a:endParaRPr lang="en-US" sz="975" dirty="0"/>
          </a:p>
        </p:txBody>
      </p:sp>
      <p:sp>
        <p:nvSpPr>
          <p:cNvPr id="154" name="Text 152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55" name="Text 153"/>
          <p:cNvSpPr/>
          <p:nvPr/>
        </p:nvSpPr>
        <p:spPr>
          <a:xfrm>
            <a:off x="16848634" y="9696450"/>
            <a:ext cx="67736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/ 24</a:t>
            </a:r>
            <a:endParaRPr lang="en-US" sz="1050" dirty="0"/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99FAF07D-6040-71E0-61AD-13FF43D95BD9}"/>
              </a:ext>
            </a:extLst>
          </p:cNvPr>
          <p:cNvGrpSpPr/>
          <p:nvPr/>
        </p:nvGrpSpPr>
        <p:grpSpPr>
          <a:xfrm>
            <a:off x="838200" y="6299200"/>
            <a:ext cx="2747010" cy="431800"/>
            <a:chOff x="838200" y="6299200"/>
            <a:chExt cx="2747010" cy="431800"/>
          </a:xfrm>
        </p:grpSpPr>
        <p:sp>
          <p:nvSpPr>
            <p:cNvPr id="157" name="Shape 22">
              <a:extLst>
                <a:ext uri="{FF2B5EF4-FFF2-40B4-BE49-F238E27FC236}">
                  <a16:creationId xmlns:a16="http://schemas.microsoft.com/office/drawing/2014/main" id="{566CED28-CDEB-76ED-6EDD-E94DC5E9D3AC}"/>
                </a:ext>
              </a:extLst>
            </p:cNvPr>
            <p:cNvSpPr/>
            <p:nvPr/>
          </p:nvSpPr>
          <p:spPr>
            <a:xfrm>
              <a:off x="838200" y="6299200"/>
              <a:ext cx="2667000" cy="431800"/>
            </a:xfrm>
            <a:prstGeom prst="rect">
              <a:avLst/>
            </a:prstGeom>
            <a:ln w="6350">
              <a:solidFill>
                <a:srgbClr val="D9CDB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8" name="Text 23">
              <a:extLst>
                <a:ext uri="{FF2B5EF4-FFF2-40B4-BE49-F238E27FC236}">
                  <a16:creationId xmlns:a16="http://schemas.microsoft.com/office/drawing/2014/main" id="{2D9173C7-F498-1FCA-6468-DDC5828B4150}"/>
                </a:ext>
              </a:extLst>
            </p:cNvPr>
            <p:cNvSpPr/>
            <p:nvPr/>
          </p:nvSpPr>
          <p:spPr>
            <a:xfrm>
              <a:off x="990600" y="6400600"/>
              <a:ext cx="2594610" cy="253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315" dirty="0">
                  <a:solidFill>
                    <a:srgbClr val="5A4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RECOMMENDATION · 추천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5953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04-4 · TABLE DEFINITION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157464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테이블 정의서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147950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1479502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— [SaaS] 선호도 기반으로 시스템이 회원에게 추천한 웨딩 업체 정보 및 매칭 점수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659498" y="2165350"/>
            <a:ext cx="102741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799198" y="2228850"/>
            <a:ext cx="8242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801207" y="2165350"/>
            <a:ext cx="648593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940907" y="2228850"/>
            <a:ext cx="445393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2857500"/>
            <a:ext cx="27470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78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8200" y="31496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96950" y="32702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 · 청첩장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8200" y="36766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6950" y="37973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· 회원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42037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6950" y="43243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· 참석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8200" y="47307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6950" y="48514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 · 방명록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8200" y="52578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96950" y="53784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· 결제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8200" y="57848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6950" y="59055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· 선호도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8200" y="6311900"/>
            <a:ext cx="2667000" cy="431800"/>
          </a:xfrm>
          <a:prstGeom prst="rect">
            <a:avLst/>
          </a:prstGeom>
          <a:solidFill>
            <a:srgbClr val="2B22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72950" y="6426200"/>
            <a:ext cx="2594610" cy="279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FB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· 추천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00500" y="2857500"/>
            <a:ext cx="317633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32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7255768" y="3028950"/>
            <a:ext cx="44582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추천 결과 — 선호도 기반으로 추천된 웨딩 업체와 매칭 점수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00500" y="3940175"/>
            <a:ext cx="62865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71950" y="3619500"/>
            <a:ext cx="36195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29150" y="3940175"/>
            <a:ext cx="2197298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3619500"/>
            <a:ext cx="1930598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26448" y="3940175"/>
            <a:ext cx="2071688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997898" y="3619500"/>
            <a:ext cx="1804988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98136" y="3940175"/>
            <a:ext cx="1820565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069586" y="3619500"/>
            <a:ext cx="1553865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718702" y="3940175"/>
            <a:ext cx="4910237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0890152" y="3619500"/>
            <a:ext cx="4714644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5628938" y="3940175"/>
            <a:ext cx="1820863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5800388" y="3619500"/>
            <a:ext cx="1554163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00500" y="44608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171950" y="40798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9150" y="4460875"/>
            <a:ext cx="219729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00600" y="4079875"/>
            <a:ext cx="1930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rec_id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26448" y="4460875"/>
            <a:ext cx="207168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997898" y="4079875"/>
            <a:ext cx="1804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898136" y="4460875"/>
            <a:ext cx="18205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069586" y="4079875"/>
            <a:ext cx="15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PK, NN, AI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718702" y="4460875"/>
            <a:ext cx="491023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0890152" y="4079875"/>
            <a:ext cx="4714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결과 식별자 (Auto Increment)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5628938" y="4460875"/>
            <a:ext cx="18208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5800388" y="4079875"/>
            <a:ext cx="15541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00500" y="49815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171950" y="46005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29150" y="4981575"/>
            <a:ext cx="219729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00600" y="4600575"/>
            <a:ext cx="1930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26448" y="4981575"/>
            <a:ext cx="207168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997898" y="4600575"/>
            <a:ext cx="1804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898136" y="4981575"/>
            <a:ext cx="18205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069586" y="4600575"/>
            <a:ext cx="15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FK, NN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718702" y="4981575"/>
            <a:ext cx="491023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0890152" y="4600575"/>
            <a:ext cx="4714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대상 회원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5628938" y="4981575"/>
            <a:ext cx="18208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5800388" y="4600575"/>
            <a:ext cx="15541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00500" y="55022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171950" y="51212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29150" y="5502275"/>
            <a:ext cx="219729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800600" y="5121275"/>
            <a:ext cx="1930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pref_id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826448" y="5502275"/>
            <a:ext cx="207168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6997898" y="5121275"/>
            <a:ext cx="1804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898136" y="5502275"/>
            <a:ext cx="18205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9069586" y="5121275"/>
            <a:ext cx="15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FK, NN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0718702" y="5502275"/>
            <a:ext cx="491023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10890152" y="5121275"/>
            <a:ext cx="4714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선호도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5628938" y="5502275"/>
            <a:ext cx="18208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5800388" y="5121275"/>
            <a:ext cx="15541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000500" y="60229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171950" y="56419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29150" y="6022975"/>
            <a:ext cx="219729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800600" y="5641975"/>
            <a:ext cx="1930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vendor_type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826448" y="6022975"/>
            <a:ext cx="207168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6997898" y="5641975"/>
            <a:ext cx="1804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898136" y="6022975"/>
            <a:ext cx="18205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9069586" y="5641975"/>
            <a:ext cx="15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0718702" y="6022975"/>
            <a:ext cx="491023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10890152" y="5641975"/>
            <a:ext cx="4714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예식장 / 스튜디오 / 드레스 / 메이크업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15628938" y="6022975"/>
            <a:ext cx="18208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15800388" y="5641975"/>
            <a:ext cx="15541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000500" y="65436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171950" y="61626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29150" y="6543675"/>
            <a:ext cx="219729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800600" y="6162675"/>
            <a:ext cx="1930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vendor_name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826448" y="6543675"/>
            <a:ext cx="207168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6997898" y="6162675"/>
            <a:ext cx="1804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8898136" y="6543675"/>
            <a:ext cx="18205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9069586" y="6162675"/>
            <a:ext cx="15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10718702" y="6543675"/>
            <a:ext cx="491023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10890152" y="6162675"/>
            <a:ext cx="4714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추천된 업체 이름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5628938" y="6543675"/>
            <a:ext cx="18208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5800388" y="6162675"/>
            <a:ext cx="15541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000500" y="70643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4171950" y="66833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4629150" y="7064375"/>
            <a:ext cx="219729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4800600" y="6683375"/>
            <a:ext cx="1930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vendor_region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6826448" y="7064375"/>
            <a:ext cx="207168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/>
          <p:nvPr/>
        </p:nvSpPr>
        <p:spPr>
          <a:xfrm>
            <a:off x="6997898" y="6683375"/>
            <a:ext cx="1804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8898136" y="7064375"/>
            <a:ext cx="18205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9069586" y="6683375"/>
            <a:ext cx="15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10718702" y="7064375"/>
            <a:ext cx="491023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10890152" y="6683375"/>
            <a:ext cx="4714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업체 소재 지역</a:t>
            </a:r>
            <a:endParaRPr lang="en-US" sz="1350" dirty="0"/>
          </a:p>
        </p:txBody>
      </p:sp>
      <p:sp>
        <p:nvSpPr>
          <p:cNvPr id="112" name="Shape 110"/>
          <p:cNvSpPr/>
          <p:nvPr/>
        </p:nvSpPr>
        <p:spPr>
          <a:xfrm>
            <a:off x="15628938" y="7064375"/>
            <a:ext cx="18208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1"/>
          <p:cNvSpPr/>
          <p:nvPr/>
        </p:nvSpPr>
        <p:spPr>
          <a:xfrm>
            <a:off x="15800388" y="6683375"/>
            <a:ext cx="15541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000500" y="75850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4171950" y="72040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629150" y="7585075"/>
            <a:ext cx="219729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5"/>
          <p:cNvSpPr/>
          <p:nvPr/>
        </p:nvSpPr>
        <p:spPr>
          <a:xfrm>
            <a:off x="4800600" y="7204075"/>
            <a:ext cx="1930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price_range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826448" y="7585075"/>
            <a:ext cx="207168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/>
          <p:nvPr/>
        </p:nvSpPr>
        <p:spPr>
          <a:xfrm>
            <a:off x="6997898" y="7204075"/>
            <a:ext cx="1804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8898136" y="7585075"/>
            <a:ext cx="18205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9069586" y="7204075"/>
            <a:ext cx="15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0718702" y="7585075"/>
            <a:ext cx="491023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/>
          <p:nvPr/>
        </p:nvSpPr>
        <p:spPr>
          <a:xfrm>
            <a:off x="10890152" y="7204075"/>
            <a:ext cx="4714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가격 범위 (만원)</a:t>
            </a:r>
            <a:endParaRPr lang="en-US" sz="1350" dirty="0"/>
          </a:p>
        </p:txBody>
      </p:sp>
      <p:sp>
        <p:nvSpPr>
          <p:cNvPr id="124" name="Shape 122"/>
          <p:cNvSpPr/>
          <p:nvPr/>
        </p:nvSpPr>
        <p:spPr>
          <a:xfrm>
            <a:off x="15628938" y="7585075"/>
            <a:ext cx="18208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/>
          <p:nvPr/>
        </p:nvSpPr>
        <p:spPr>
          <a:xfrm>
            <a:off x="15800388" y="7204075"/>
            <a:ext cx="15541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4000500" y="81057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/>
          <p:nvPr/>
        </p:nvSpPr>
        <p:spPr>
          <a:xfrm>
            <a:off x="4171950" y="77247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4629150" y="8105775"/>
            <a:ext cx="219729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/>
          <p:cNvSpPr/>
          <p:nvPr/>
        </p:nvSpPr>
        <p:spPr>
          <a:xfrm>
            <a:off x="4800600" y="7724775"/>
            <a:ext cx="1930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match_score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6826448" y="8105775"/>
            <a:ext cx="207168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9"/>
          <p:cNvSpPr/>
          <p:nvPr/>
        </p:nvSpPr>
        <p:spPr>
          <a:xfrm>
            <a:off x="6997898" y="7724775"/>
            <a:ext cx="1804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DECIMAL(5,2)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8898136" y="8105775"/>
            <a:ext cx="18205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/>
          <p:nvPr/>
        </p:nvSpPr>
        <p:spPr>
          <a:xfrm>
            <a:off x="9069586" y="7724775"/>
            <a:ext cx="15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10718702" y="8105775"/>
            <a:ext cx="491023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3"/>
          <p:cNvSpPr/>
          <p:nvPr/>
        </p:nvSpPr>
        <p:spPr>
          <a:xfrm>
            <a:off x="10890152" y="7724775"/>
            <a:ext cx="4714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선호도와의 매칭 점수 (0.00~100.00)</a:t>
            </a:r>
            <a:endParaRPr lang="en-US" sz="1350" dirty="0"/>
          </a:p>
        </p:txBody>
      </p:sp>
      <p:sp>
        <p:nvSpPr>
          <p:cNvPr id="136" name="Shape 134"/>
          <p:cNvSpPr/>
          <p:nvPr/>
        </p:nvSpPr>
        <p:spPr>
          <a:xfrm>
            <a:off x="15628938" y="8105775"/>
            <a:ext cx="18208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5"/>
          <p:cNvSpPr/>
          <p:nvPr/>
        </p:nvSpPr>
        <p:spPr>
          <a:xfrm>
            <a:off x="15800388" y="7724775"/>
            <a:ext cx="15541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4000500" y="86264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7"/>
          <p:cNvSpPr/>
          <p:nvPr/>
        </p:nvSpPr>
        <p:spPr>
          <a:xfrm>
            <a:off x="4171950" y="82454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4629150" y="8626475"/>
            <a:ext cx="219729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1" name="Text 139"/>
          <p:cNvSpPr/>
          <p:nvPr/>
        </p:nvSpPr>
        <p:spPr>
          <a:xfrm>
            <a:off x="4800600" y="8245475"/>
            <a:ext cx="19305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6826448" y="8626475"/>
            <a:ext cx="2071688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Text 141"/>
          <p:cNvSpPr/>
          <p:nvPr/>
        </p:nvSpPr>
        <p:spPr>
          <a:xfrm>
            <a:off x="6997898" y="8245475"/>
            <a:ext cx="1804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44" name="Shape 142"/>
          <p:cNvSpPr/>
          <p:nvPr/>
        </p:nvSpPr>
        <p:spPr>
          <a:xfrm>
            <a:off x="8898136" y="8626475"/>
            <a:ext cx="182056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143"/>
          <p:cNvSpPr/>
          <p:nvPr/>
        </p:nvSpPr>
        <p:spPr>
          <a:xfrm>
            <a:off x="9069586" y="8245475"/>
            <a:ext cx="15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10718702" y="8626475"/>
            <a:ext cx="4910237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45"/>
          <p:cNvSpPr/>
          <p:nvPr/>
        </p:nvSpPr>
        <p:spPr>
          <a:xfrm>
            <a:off x="10890152" y="8245475"/>
            <a:ext cx="471464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생성 일시</a:t>
            </a:r>
            <a:endParaRPr lang="en-US" sz="1350" dirty="0"/>
          </a:p>
        </p:txBody>
      </p:sp>
      <p:sp>
        <p:nvSpPr>
          <p:cNvPr id="148" name="Shape 146"/>
          <p:cNvSpPr/>
          <p:nvPr/>
        </p:nvSpPr>
        <p:spPr>
          <a:xfrm>
            <a:off x="15628938" y="8626475"/>
            <a:ext cx="1820863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Text 147"/>
          <p:cNvSpPr/>
          <p:nvPr/>
        </p:nvSpPr>
        <p:spPr>
          <a:xfrm>
            <a:off x="15800388" y="8245475"/>
            <a:ext cx="15541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50" name="Text 148"/>
          <p:cNvSpPr/>
          <p:nvPr/>
        </p:nvSpPr>
        <p:spPr>
          <a:xfrm>
            <a:off x="4000500" y="8864600"/>
            <a:ext cx="129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975" dirty="0"/>
          </a:p>
        </p:txBody>
      </p:sp>
      <p:sp>
        <p:nvSpPr>
          <p:cNvPr id="151" name="Text 149"/>
          <p:cNvSpPr/>
          <p:nvPr/>
        </p:nvSpPr>
        <p:spPr>
          <a:xfrm>
            <a:off x="5449590" y="8864600"/>
            <a:ext cx="12736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</a:t>
            </a:r>
            <a:endParaRPr lang="en-US" sz="975" dirty="0"/>
          </a:p>
        </p:txBody>
      </p:sp>
      <p:sp>
        <p:nvSpPr>
          <p:cNvPr id="152" name="Text 150"/>
          <p:cNvSpPr/>
          <p:nvPr/>
        </p:nvSpPr>
        <p:spPr>
          <a:xfrm>
            <a:off x="6875661" y="8864600"/>
            <a:ext cx="115391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 · Not Null</a:t>
            </a:r>
            <a:endParaRPr lang="en-US" sz="975" dirty="0"/>
          </a:p>
        </p:txBody>
      </p:sp>
      <p:sp>
        <p:nvSpPr>
          <p:cNvPr id="153" name="Text 151"/>
          <p:cNvSpPr/>
          <p:nvPr/>
        </p:nvSpPr>
        <p:spPr>
          <a:xfrm>
            <a:off x="8181975" y="8864600"/>
            <a:ext cx="163909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· Auto Increment</a:t>
            </a:r>
            <a:endParaRPr lang="en-US" sz="975" dirty="0"/>
          </a:p>
        </p:txBody>
      </p:sp>
      <p:sp>
        <p:nvSpPr>
          <p:cNvPr id="154" name="Text 152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55" name="Text 153"/>
          <p:cNvSpPr/>
          <p:nvPr/>
        </p:nvSpPr>
        <p:spPr>
          <a:xfrm>
            <a:off x="16841093" y="9696450"/>
            <a:ext cx="68490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/ 24</a:t>
            </a:r>
            <a:endParaRPr lang="en-US" sz="1050" dirty="0"/>
          </a:p>
        </p:txBody>
      </p:sp>
      <p:sp>
        <p:nvSpPr>
          <p:cNvPr id="156" name="Shape 24"/>
          <p:cNvSpPr/>
          <p:nvPr/>
        </p:nvSpPr>
        <p:spPr>
          <a:xfrm>
            <a:off x="838200" y="6824248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Text 25"/>
          <p:cNvSpPr/>
          <p:nvPr/>
        </p:nvSpPr>
        <p:spPr>
          <a:xfrm>
            <a:off x="996950" y="6944898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 · 스크랩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25953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04-4 · TABLE DEFINITION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4157464" y="609600"/>
            <a:ext cx="14004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테이블 정의서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333500"/>
            <a:ext cx="1478786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kern="0" spc="21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</a:t>
            </a:r>
            <a:r>
              <a:rPr lang="en-US" sz="5400" kern="0" spc="21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1478786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 — [SaaS] 회원이 추천받은 웨딩 업체 중 저장한 스크랩 목록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652552" y="2165350"/>
            <a:ext cx="1027410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792252" y="2228850"/>
            <a:ext cx="8242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TABLES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794262" y="2165350"/>
            <a:ext cx="655538" cy="266700"/>
          </a:xfrm>
          <a:prstGeom prst="roundRect">
            <a:avLst>
              <a:gd name="adj" fmla="val 50000"/>
            </a:avLst>
          </a:prstGeom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933962" y="2228850"/>
            <a:ext cx="452338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kern="0" spc="27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2857500"/>
            <a:ext cx="274701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kern="0" spc="378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8200" y="31496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96950" y="32702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 · 청첩장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8200" y="36766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6950" y="37973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· 회원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8200" y="42037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6950" y="43243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· 참석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8200" y="47307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6950" y="48514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GUESTBOOK · 방명록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8200" y="525780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96950" y="537845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· 결제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8200" y="5784850"/>
            <a:ext cx="2667000" cy="431800"/>
          </a:xfrm>
          <a:prstGeom prst="rect">
            <a:avLst/>
          </a:prstGeom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6950" y="5905500"/>
            <a:ext cx="24295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· 선호도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8200" y="6836948"/>
            <a:ext cx="2667000" cy="419100"/>
          </a:xfrm>
          <a:prstGeom prst="rect">
            <a:avLst/>
          </a:prstGeom>
          <a:solidFill>
            <a:srgbClr val="2B22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90600" y="6951248"/>
            <a:ext cx="24422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FB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 · 스크랩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00500" y="2857500"/>
            <a:ext cx="10447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32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5140523" y="3028950"/>
            <a:ext cx="33921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스크랩 — 회원이 추천 업체 중 저장한 찜 목록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00500" y="3940175"/>
            <a:ext cx="62865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171950" y="3619500"/>
            <a:ext cx="36195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29150" y="3940175"/>
            <a:ext cx="1965226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3619500"/>
            <a:ext cx="1698526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94376" y="3940175"/>
            <a:ext cx="201682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765826" y="3619500"/>
            <a:ext cx="1750120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611195" y="3940175"/>
            <a:ext cx="1886645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782645" y="3619500"/>
            <a:ext cx="1619945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497841" y="3940175"/>
            <a:ext cx="4544616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0669291" y="3619500"/>
            <a:ext cx="4338054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5042456" y="3940175"/>
            <a:ext cx="2407345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5213906" y="3619500"/>
            <a:ext cx="2140645" cy="22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00500" y="44608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171950" y="40798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9150" y="4460875"/>
            <a:ext cx="196522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00600" y="4079875"/>
            <a:ext cx="16985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scrap_id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94376" y="4460875"/>
            <a:ext cx="2016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765826" y="4079875"/>
            <a:ext cx="1750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11195" y="4460875"/>
            <a:ext cx="18866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782645" y="4079875"/>
            <a:ext cx="1619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F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PK, NN, AI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497841" y="4460875"/>
            <a:ext cx="454461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10669291" y="4079875"/>
            <a:ext cx="43380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스크랩 식별자 (Auto Increment)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5042456" y="4460875"/>
            <a:ext cx="24073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5213906" y="4079875"/>
            <a:ext cx="21406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000500" y="49815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171950" y="46005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29150" y="4981575"/>
            <a:ext cx="196522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00600" y="4600575"/>
            <a:ext cx="16985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594376" y="4981575"/>
            <a:ext cx="2016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765826" y="4600575"/>
            <a:ext cx="1750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611195" y="4981575"/>
            <a:ext cx="18866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8782645" y="4600575"/>
            <a:ext cx="1619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FK, NN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497841" y="4981575"/>
            <a:ext cx="454461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0669291" y="4600575"/>
            <a:ext cx="43380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스크랩한 회원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5042456" y="4981575"/>
            <a:ext cx="24073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15213906" y="4600575"/>
            <a:ext cx="21406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00500" y="55022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4171950" y="51212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29150" y="5502275"/>
            <a:ext cx="196522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800600" y="5121275"/>
            <a:ext cx="16985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rec_id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594376" y="5502275"/>
            <a:ext cx="2016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6765826" y="5121275"/>
            <a:ext cx="1750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611195" y="5502275"/>
            <a:ext cx="18866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8782645" y="5121275"/>
            <a:ext cx="1619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FK, NN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0497841" y="5502275"/>
            <a:ext cx="454461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10669291" y="5121275"/>
            <a:ext cx="43380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스크랩 대상 추천 결과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5042456" y="5502275"/>
            <a:ext cx="24073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5213906" y="5121275"/>
            <a:ext cx="21406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000500" y="60229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4171950" y="56419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29150" y="6022975"/>
            <a:ext cx="196522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800600" y="5641975"/>
            <a:ext cx="16985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594376" y="6022975"/>
            <a:ext cx="2016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6765826" y="5641975"/>
            <a:ext cx="1750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611195" y="6022975"/>
            <a:ext cx="18866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8782645" y="5641975"/>
            <a:ext cx="1619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0497841" y="6022975"/>
            <a:ext cx="454461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10669291" y="5641975"/>
            <a:ext cx="43380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회원이 추가한 개인 메모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15042456" y="6022975"/>
            <a:ext cx="24073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15213906" y="5641975"/>
            <a:ext cx="21406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000500" y="6543675"/>
            <a:ext cx="62865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4171950" y="6162675"/>
            <a:ext cx="361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29150" y="6543675"/>
            <a:ext cx="196522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800600" y="6162675"/>
            <a:ext cx="16985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594376" y="6543675"/>
            <a:ext cx="201682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6765826" y="6162675"/>
            <a:ext cx="1750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8611195" y="6543675"/>
            <a:ext cx="18866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8782645" y="6162675"/>
            <a:ext cx="1619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10497841" y="6543675"/>
            <a:ext cx="4544616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7"/>
          <p:cNvSpPr/>
          <p:nvPr/>
        </p:nvSpPr>
        <p:spPr>
          <a:xfrm>
            <a:off x="10669291" y="6162675"/>
            <a:ext cx="43380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스크랩 등록 일시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5042456" y="6543675"/>
            <a:ext cx="2407345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/>
          <p:nvPr/>
        </p:nvSpPr>
        <p:spPr>
          <a:xfrm>
            <a:off x="15213906" y="6162675"/>
            <a:ext cx="21406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4000500" y="6781800"/>
            <a:ext cx="129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6F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Key</a:t>
            </a:r>
            <a:endParaRPr lang="en-US" sz="975" dirty="0"/>
          </a:p>
        </p:txBody>
      </p:sp>
      <p:sp>
        <p:nvSpPr>
          <p:cNvPr id="103" name="Text 101"/>
          <p:cNvSpPr/>
          <p:nvPr/>
        </p:nvSpPr>
        <p:spPr>
          <a:xfrm>
            <a:off x="5449590" y="6781800"/>
            <a:ext cx="12736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</a:t>
            </a: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</a:t>
            </a:r>
            <a:endParaRPr lang="en-US" sz="975" dirty="0"/>
          </a:p>
        </p:txBody>
      </p:sp>
      <p:sp>
        <p:nvSpPr>
          <p:cNvPr id="104" name="Text 102"/>
          <p:cNvSpPr/>
          <p:nvPr/>
        </p:nvSpPr>
        <p:spPr>
          <a:xfrm>
            <a:off x="6875661" y="6781800"/>
            <a:ext cx="115391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NN · Not Null</a:t>
            </a:r>
            <a:endParaRPr lang="en-US" sz="975" dirty="0"/>
          </a:p>
        </p:txBody>
      </p:sp>
      <p:sp>
        <p:nvSpPr>
          <p:cNvPr id="105" name="Text 103"/>
          <p:cNvSpPr/>
          <p:nvPr/>
        </p:nvSpPr>
        <p:spPr>
          <a:xfrm>
            <a:off x="8181975" y="6781800"/>
            <a:ext cx="163909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· Auto Increment</a:t>
            </a:r>
            <a:endParaRPr lang="en-US" sz="975" dirty="0"/>
          </a:p>
        </p:txBody>
      </p:sp>
      <p:sp>
        <p:nvSpPr>
          <p:cNvPr id="106" name="Text 104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07" name="Text 105"/>
          <p:cNvSpPr/>
          <p:nvPr/>
        </p:nvSpPr>
        <p:spPr>
          <a:xfrm>
            <a:off x="16845955" y="9696450"/>
            <a:ext cx="68004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/ 24</a:t>
            </a:r>
            <a:endParaRPr lang="en-US" sz="1050" dirty="0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B1829488-62C9-AF2A-DDBD-DEED8164B67C}"/>
              </a:ext>
            </a:extLst>
          </p:cNvPr>
          <p:cNvGrpSpPr/>
          <p:nvPr/>
        </p:nvGrpSpPr>
        <p:grpSpPr>
          <a:xfrm>
            <a:off x="838200" y="6299200"/>
            <a:ext cx="2744411" cy="431800"/>
            <a:chOff x="838200" y="6299200"/>
            <a:chExt cx="2744411" cy="431800"/>
          </a:xfrm>
        </p:grpSpPr>
        <p:sp>
          <p:nvSpPr>
            <p:cNvPr id="109" name="Shape 22">
              <a:extLst>
                <a:ext uri="{FF2B5EF4-FFF2-40B4-BE49-F238E27FC236}">
                  <a16:creationId xmlns:a16="http://schemas.microsoft.com/office/drawing/2014/main" id="{92D90192-E4A0-4490-8277-427CED0510B3}"/>
                </a:ext>
              </a:extLst>
            </p:cNvPr>
            <p:cNvSpPr/>
            <p:nvPr/>
          </p:nvSpPr>
          <p:spPr>
            <a:xfrm>
              <a:off x="838200" y="6299200"/>
              <a:ext cx="2667000" cy="431800"/>
            </a:xfrm>
            <a:prstGeom prst="rect">
              <a:avLst/>
            </a:prstGeom>
            <a:ln w="6350">
              <a:solidFill>
                <a:srgbClr val="D9CDB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Text 23">
              <a:extLst>
                <a:ext uri="{FF2B5EF4-FFF2-40B4-BE49-F238E27FC236}">
                  <a16:creationId xmlns:a16="http://schemas.microsoft.com/office/drawing/2014/main" id="{3B865B37-86DE-1B52-034B-78CB36BB4B9F}"/>
                </a:ext>
              </a:extLst>
            </p:cNvPr>
            <p:cNvSpPr/>
            <p:nvPr/>
          </p:nvSpPr>
          <p:spPr>
            <a:xfrm>
              <a:off x="988001" y="6400600"/>
              <a:ext cx="2594610" cy="253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315" dirty="0">
                  <a:solidFill>
                    <a:srgbClr val="5A4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RECOMMENDATION · 추천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1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18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38200" y="7143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466850" y="609600"/>
            <a:ext cx="12744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807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905000"/>
            <a:ext cx="6234630" cy="424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9000" kern="0" spc="156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9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256794" y="2667000"/>
            <a:ext cx="4888206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00" kern="0" spc="63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THREE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6794" y="3035300"/>
            <a:ext cx="4888206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0" kern="0" spc="360" dirty="0">
                <a:solidFill>
                  <a:srgbClr val="F3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</a:t>
            </a:r>
            <a:r>
              <a:rPr lang="en-US" sz="9000" i="1" kern="0" spc="3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2256794" y="5664200"/>
            <a:ext cx="4888206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4000" kern="0" spc="780" dirty="0">
                <a:solidFill>
                  <a:srgbClr val="C9B6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 부 기 능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 flipV="1">
            <a:off x="13995400" y="6372225"/>
            <a:ext cx="3149600" cy="45719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 sz="4000"/>
          </a:p>
        </p:txBody>
      </p:sp>
      <p:sp>
        <p:nvSpPr>
          <p:cNvPr id="10" name="Text 8"/>
          <p:cNvSpPr/>
          <p:nvPr/>
        </p:nvSpPr>
        <p:spPr>
          <a:xfrm>
            <a:off x="12256794" y="6600825"/>
            <a:ext cx="4888206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80000"/>
              </a:lnSpc>
              <a:buNone/>
            </a:pPr>
            <a:r>
              <a:rPr lang="en-US" sz="2000" dirty="0">
                <a:solidFill>
                  <a:srgbClr val="9C8C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추천 · 청첩장 · 응대 — 세 줄기로 살펴보는 Wedding Platform의 주요 기능.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837919" y="9696450"/>
            <a:ext cx="68808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807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/ 24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15689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05-1 · FEATURE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131046" y="609600"/>
            <a:ext cx="164812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맞춤형 업체 추천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19250"/>
            <a:ext cx="107918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12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· 01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10791825" cy="943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kern="0" spc="6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맞춤형 </a:t>
            </a:r>
            <a:r>
              <a:rPr lang="en-US" sz="6600" i="1" kern="0" spc="6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업체 추천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38200" y="3229570"/>
            <a:ext cx="7456170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6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예산·지역·계절·스타일·하객수 5가지 선호도를 입력하면 매칭 점수(0~100)로 </a:t>
            </a:r>
            <a:br>
              <a:rPr lang="en-US" sz="16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650" dirty="0" err="1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정렬된</a:t>
            </a:r>
            <a:r>
              <a:rPr lang="en-US" sz="16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예식장·스튜디오·드레스·메이크업 업체를 추천합니다.</a:t>
            </a:r>
            <a:endParaRPr lang="en-US" sz="1650" dirty="0"/>
          </a:p>
        </p:txBody>
      </p:sp>
      <p:sp>
        <p:nvSpPr>
          <p:cNvPr id="44" name="Shape 39"/>
          <p:cNvSpPr/>
          <p:nvPr/>
        </p:nvSpPr>
        <p:spPr>
          <a:xfrm>
            <a:off x="11430000" y="1905000"/>
            <a:ext cx="5715000" cy="4556125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11703051" y="2190749"/>
            <a:ext cx="2865754" cy="231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FOR YOU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14765655" y="2178050"/>
            <a:ext cx="218249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예산 4,000~6,000만원 · 서울 · 가을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38200" y="4818162"/>
            <a:ext cx="2730500" cy="1496616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35025" y="4814987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35025" y="4814987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32175" y="4814987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565525" y="4814987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35025" y="631160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35025" y="617825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432175" y="631160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65525" y="617825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5053112"/>
            <a:ext cx="323850" cy="3238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54100" y="5548412"/>
            <a:ext cx="23749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5가지 선호도 입력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54100" y="5853212"/>
            <a:ext cx="2374900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1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예산·지역·계절·스타일·예상 하객수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759200" y="4818162"/>
            <a:ext cx="2730500" cy="1496616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3756025" y="4814987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3756025" y="4814987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353175" y="4814987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486525" y="4814987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3756025" y="631160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3756025" y="617825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353175" y="631160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486525" y="617825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100" y="5053112"/>
            <a:ext cx="323850" cy="32385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975100" y="5548412"/>
            <a:ext cx="23749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매칭 점수 정렬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3975100" y="5853212"/>
            <a:ext cx="2374900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DECIMAL(5,2) match_score 컬럼 기준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680200" y="4818162"/>
            <a:ext cx="2730500" cy="1496616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6677025" y="4814987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6677025" y="4814987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9274175" y="4814987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9407525" y="4814987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6677025" y="631160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6677025" y="617825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9274175" y="6311603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6"/>
          <p:cNvSpPr/>
          <p:nvPr/>
        </p:nvSpPr>
        <p:spPr>
          <a:xfrm>
            <a:off x="9407525" y="6178253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100" y="5053112"/>
            <a:ext cx="323850" cy="32385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896100" y="5548412"/>
            <a:ext cx="23749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스크랩 &amp; 비교</a:t>
            </a:r>
            <a:endParaRPr lang="en-US" sz="1350" dirty="0"/>
          </a:p>
        </p:txBody>
      </p:sp>
      <p:sp>
        <p:nvSpPr>
          <p:cNvPr id="43" name="Text 38"/>
          <p:cNvSpPr/>
          <p:nvPr/>
        </p:nvSpPr>
        <p:spPr>
          <a:xfrm>
            <a:off x="6896100" y="5853212"/>
            <a:ext cx="2374900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메모 기록과 함께 즐겨찾기 저장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11703051" y="3749675"/>
            <a:ext cx="51689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3"/>
          <p:cNvSpPr/>
          <p:nvPr/>
        </p:nvSpPr>
        <p:spPr>
          <a:xfrm>
            <a:off x="11703051" y="2803525"/>
            <a:ext cx="812800" cy="8128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4"/>
          <p:cNvSpPr/>
          <p:nvPr/>
        </p:nvSpPr>
        <p:spPr>
          <a:xfrm>
            <a:off x="11671301" y="2809875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975" dirty="0"/>
          </a:p>
        </p:txBody>
      </p:sp>
      <p:sp>
        <p:nvSpPr>
          <p:cNvPr id="50" name="Text 45"/>
          <p:cNvSpPr/>
          <p:nvPr/>
        </p:nvSpPr>
        <p:spPr>
          <a:xfrm>
            <a:off x="12687300" y="2965450"/>
            <a:ext cx="299830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루나 가든 컨벤션</a:t>
            </a:r>
            <a:endParaRPr lang="en-US" sz="1500" dirty="0"/>
          </a:p>
        </p:txBody>
      </p:sp>
      <p:sp>
        <p:nvSpPr>
          <p:cNvPr id="51" name="Text 46"/>
          <p:cNvSpPr/>
          <p:nvPr/>
        </p:nvSpPr>
        <p:spPr>
          <a:xfrm>
            <a:off x="12687300" y="3263900"/>
            <a:ext cx="29983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예식장 · 강남구 · 4,800만원~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16183273" y="2990850"/>
            <a:ext cx="7648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kern="0" spc="10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96.4</a:t>
            </a:r>
            <a:endParaRPr lang="en-US" sz="2550" dirty="0"/>
          </a:p>
        </p:txBody>
      </p:sp>
      <p:sp>
        <p:nvSpPr>
          <p:cNvPr id="53" name="Text 48"/>
          <p:cNvSpPr/>
          <p:nvPr/>
        </p:nvSpPr>
        <p:spPr>
          <a:xfrm>
            <a:off x="15769729" y="3314700"/>
            <a:ext cx="11784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SCORE</a:t>
            </a:r>
            <a:endParaRPr lang="en-US" sz="750" dirty="0"/>
          </a:p>
        </p:txBody>
      </p:sp>
      <p:sp>
        <p:nvSpPr>
          <p:cNvPr id="54" name="Shape 49"/>
          <p:cNvSpPr/>
          <p:nvPr/>
        </p:nvSpPr>
        <p:spPr>
          <a:xfrm>
            <a:off x="11703051" y="4968875"/>
            <a:ext cx="51689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0"/>
          <p:cNvSpPr/>
          <p:nvPr/>
        </p:nvSpPr>
        <p:spPr>
          <a:xfrm>
            <a:off x="11703051" y="4022725"/>
            <a:ext cx="812800" cy="8128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1"/>
          <p:cNvSpPr/>
          <p:nvPr/>
        </p:nvSpPr>
        <p:spPr>
          <a:xfrm>
            <a:off x="11671301" y="4029075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975" dirty="0"/>
          </a:p>
        </p:txBody>
      </p:sp>
      <p:sp>
        <p:nvSpPr>
          <p:cNvPr id="57" name="Text 52"/>
          <p:cNvSpPr/>
          <p:nvPr/>
        </p:nvSpPr>
        <p:spPr>
          <a:xfrm>
            <a:off x="12687300" y="4184650"/>
            <a:ext cx="299830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화이트룸 스튜디오</a:t>
            </a:r>
            <a:endParaRPr lang="en-US" sz="1500" dirty="0"/>
          </a:p>
        </p:txBody>
      </p:sp>
      <p:sp>
        <p:nvSpPr>
          <p:cNvPr id="58" name="Text 53"/>
          <p:cNvSpPr/>
          <p:nvPr/>
        </p:nvSpPr>
        <p:spPr>
          <a:xfrm>
            <a:off x="12687300" y="4483100"/>
            <a:ext cx="29983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스튜디오 · 마포구 · 320만원</a:t>
            </a:r>
            <a:endParaRPr lang="en-US" sz="1050" dirty="0"/>
          </a:p>
        </p:txBody>
      </p:sp>
      <p:sp>
        <p:nvSpPr>
          <p:cNvPr id="59" name="Text 54"/>
          <p:cNvSpPr/>
          <p:nvPr/>
        </p:nvSpPr>
        <p:spPr>
          <a:xfrm>
            <a:off x="16229509" y="4210050"/>
            <a:ext cx="7186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kern="0" spc="10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91.2</a:t>
            </a:r>
            <a:endParaRPr lang="en-US" sz="2550" dirty="0"/>
          </a:p>
        </p:txBody>
      </p:sp>
      <p:sp>
        <p:nvSpPr>
          <p:cNvPr id="60" name="Text 55"/>
          <p:cNvSpPr/>
          <p:nvPr/>
        </p:nvSpPr>
        <p:spPr>
          <a:xfrm>
            <a:off x="15769729" y="4533900"/>
            <a:ext cx="11784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SCORE</a:t>
            </a:r>
            <a:endParaRPr lang="en-US" sz="750" dirty="0"/>
          </a:p>
        </p:txBody>
      </p:sp>
      <p:sp>
        <p:nvSpPr>
          <p:cNvPr id="61" name="Shape 56"/>
          <p:cNvSpPr/>
          <p:nvPr/>
        </p:nvSpPr>
        <p:spPr>
          <a:xfrm>
            <a:off x="11703051" y="5241925"/>
            <a:ext cx="812800" cy="812800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7"/>
          <p:cNvSpPr/>
          <p:nvPr/>
        </p:nvSpPr>
        <p:spPr>
          <a:xfrm>
            <a:off x="11671301" y="5248275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975" dirty="0"/>
          </a:p>
        </p:txBody>
      </p:sp>
      <p:sp>
        <p:nvSpPr>
          <p:cNvPr id="63" name="Text 58"/>
          <p:cNvSpPr/>
          <p:nvPr/>
        </p:nvSpPr>
        <p:spPr>
          <a:xfrm>
            <a:off x="12687300" y="5403850"/>
            <a:ext cx="299830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아뜰리에 오뜨</a:t>
            </a:r>
            <a:endParaRPr lang="en-US" sz="1500" dirty="0"/>
          </a:p>
        </p:txBody>
      </p:sp>
      <p:sp>
        <p:nvSpPr>
          <p:cNvPr id="64" name="Text 59"/>
          <p:cNvSpPr/>
          <p:nvPr/>
        </p:nvSpPr>
        <p:spPr>
          <a:xfrm>
            <a:off x="12687300" y="5702300"/>
            <a:ext cx="29983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드레스 · 청담동 · 480만원</a:t>
            </a:r>
            <a:endParaRPr lang="en-US" sz="1050" dirty="0"/>
          </a:p>
        </p:txBody>
      </p:sp>
      <p:sp>
        <p:nvSpPr>
          <p:cNvPr id="65" name="Text 60"/>
          <p:cNvSpPr/>
          <p:nvPr/>
        </p:nvSpPr>
        <p:spPr>
          <a:xfrm>
            <a:off x="16183968" y="5429250"/>
            <a:ext cx="7641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kern="0" spc="10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88.7</a:t>
            </a:r>
            <a:endParaRPr lang="en-US" sz="2550" dirty="0"/>
          </a:p>
        </p:txBody>
      </p:sp>
      <p:sp>
        <p:nvSpPr>
          <p:cNvPr id="66" name="Text 61"/>
          <p:cNvSpPr/>
          <p:nvPr/>
        </p:nvSpPr>
        <p:spPr>
          <a:xfrm>
            <a:off x="15769729" y="5753100"/>
            <a:ext cx="11784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SCORE</a:t>
            </a:r>
            <a:endParaRPr lang="en-US" sz="750" dirty="0"/>
          </a:p>
        </p:txBody>
      </p:sp>
      <p:sp>
        <p:nvSpPr>
          <p:cNvPr id="67" name="Text 62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68" name="Text 63"/>
          <p:cNvSpPr/>
          <p:nvPr/>
        </p:nvSpPr>
        <p:spPr>
          <a:xfrm>
            <a:off x="16841093" y="9696450"/>
            <a:ext cx="68490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/ 24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15775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05-2 · FEATURE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139678" y="609600"/>
            <a:ext cx="181719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모바일 청첩장 생성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19250"/>
            <a:ext cx="90258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12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· 02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9025890" cy="943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kern="0" spc="6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모바일 </a:t>
            </a:r>
            <a:r>
              <a:rPr lang="en-US" sz="6600" i="1" kern="0" spc="6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청첩장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38199" y="3229570"/>
            <a:ext cx="7612781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6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신랑·신부 이름, 예식일, 장소, BGM을 입력하면 한 페이지의 우아한 </a:t>
            </a:r>
            <a:r>
              <a:rPr lang="en-US" sz="1650" dirty="0" err="1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청첩장이</a:t>
            </a:r>
            <a:r>
              <a:rPr lang="en-US" sz="16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50" dirty="0" err="1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완성</a:t>
            </a:r>
            <a:r>
              <a:rPr lang="en-US" sz="16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50" dirty="0" err="1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됩니다</a:t>
            </a:r>
            <a:r>
              <a:rPr lang="en-US" sz="16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br>
              <a:rPr lang="en-US" sz="16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650" dirty="0" err="1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방명록</a:t>
            </a:r>
            <a:r>
              <a:rPr lang="en-US" sz="165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지도 길안내, RSVP, 축의금 송금이 한 화면에서 동작합니다.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38200" y="4741962"/>
            <a:ext cx="3152775" cy="76835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38200" y="4741962"/>
            <a:ext cx="19050" cy="76835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4913412"/>
            <a:ext cx="209550" cy="2095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09700" y="4913412"/>
            <a:ext cx="13068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초대 메시지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1409699" y="5161062"/>
            <a:ext cx="141662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자체 템플릿 · 자유 편집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62425" y="4741962"/>
            <a:ext cx="3152775" cy="76835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162425" y="4741962"/>
            <a:ext cx="19050" cy="76835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4913412"/>
            <a:ext cx="209550" cy="2095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33925" y="4913412"/>
            <a:ext cx="15565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지도 길안내</a:t>
            </a:r>
            <a:endParaRPr lang="en-US" sz="1275" dirty="0"/>
          </a:p>
        </p:txBody>
      </p:sp>
      <p:sp>
        <p:nvSpPr>
          <p:cNvPr id="17" name="Text 13"/>
          <p:cNvSpPr/>
          <p:nvPr/>
        </p:nvSpPr>
        <p:spPr>
          <a:xfrm>
            <a:off x="4733924" y="5161062"/>
            <a:ext cx="1685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Naver · Kakao · Google API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38200" y="5681762"/>
            <a:ext cx="3152775" cy="76835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838200" y="5681762"/>
            <a:ext cx="19050" cy="76835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5853212"/>
            <a:ext cx="209550" cy="2095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09700" y="5853212"/>
            <a:ext cx="124241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D-Day 카운트</a:t>
            </a:r>
            <a:endParaRPr lang="en-US" sz="1275" dirty="0"/>
          </a:p>
        </p:txBody>
      </p:sp>
      <p:sp>
        <p:nvSpPr>
          <p:cNvPr id="22" name="Text 17"/>
          <p:cNvSpPr/>
          <p:nvPr/>
        </p:nvSpPr>
        <p:spPr>
          <a:xfrm>
            <a:off x="1409700" y="6100862"/>
            <a:ext cx="13068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실시간 남은 시간 표시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162425" y="5681762"/>
            <a:ext cx="3152775" cy="76835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4162425" y="5681762"/>
            <a:ext cx="19050" cy="76835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975" y="5853212"/>
            <a:ext cx="209550" cy="2095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33925" y="5853212"/>
            <a:ext cx="13091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BGM 업로드</a:t>
            </a:r>
            <a:endParaRPr lang="en-US" sz="1275" dirty="0"/>
          </a:p>
        </p:txBody>
      </p:sp>
      <p:sp>
        <p:nvSpPr>
          <p:cNvPr id="27" name="Text 21"/>
          <p:cNvSpPr/>
          <p:nvPr/>
        </p:nvSpPr>
        <p:spPr>
          <a:xfrm>
            <a:off x="4733925" y="6100862"/>
            <a:ext cx="143134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Storage 저장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2877800" y="2190318"/>
            <a:ext cx="3505200" cy="6743700"/>
          </a:xfrm>
          <a:prstGeom prst="roundRect">
            <a:avLst>
              <a:gd name="adj" fmla="val 12500"/>
            </a:avLst>
          </a:prstGeom>
          <a:solidFill>
            <a:srgbClr val="0F0C0A"/>
          </a:solidFill>
          <a:ln/>
          <a:effectLst>
            <a:outerShdw blurRad="762000" dist="285750" dir="5400000" algn="bl" rotWithShape="0">
              <a:srgbClr val="281C1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13011150" y="2323668"/>
            <a:ext cx="3238500" cy="6477000"/>
          </a:xfrm>
          <a:prstGeom prst="roundRect">
            <a:avLst>
              <a:gd name="adj" fmla="val 10588"/>
            </a:avLst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44650" y="2666569"/>
            <a:ext cx="571500" cy="3810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198031" y="3219019"/>
            <a:ext cx="286473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50" kern="0" spc="315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INVITE YOU</a:t>
            </a:r>
            <a:endParaRPr lang="en-US" sz="75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B0AF365-A9FF-89EE-5D38-2DD6DB576D2D}"/>
              </a:ext>
            </a:extLst>
          </p:cNvPr>
          <p:cNvGrpSpPr/>
          <p:nvPr/>
        </p:nvGrpSpPr>
        <p:grpSpPr>
          <a:xfrm>
            <a:off x="13334999" y="3542869"/>
            <a:ext cx="2590800" cy="2711450"/>
            <a:chOff x="13208000" y="3504768"/>
            <a:chExt cx="2590800" cy="2711450"/>
          </a:xfrm>
        </p:grpSpPr>
        <p:sp>
          <p:nvSpPr>
            <p:cNvPr id="32" name="Shape 25"/>
            <p:cNvSpPr/>
            <p:nvPr/>
          </p:nvSpPr>
          <p:spPr>
            <a:xfrm>
              <a:off x="13239750" y="3504768"/>
              <a:ext cx="2527300" cy="2679700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ln w="6350">
              <a:solidFill>
                <a:srgbClr val="B8996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26"/>
            <p:cNvSpPr/>
            <p:nvPr/>
          </p:nvSpPr>
          <p:spPr>
            <a:xfrm>
              <a:off x="13208000" y="3511118"/>
              <a:ext cx="2590800" cy="2705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endParaRPr lang="en-US" sz="975" dirty="0"/>
            </a:p>
          </p:txBody>
        </p:sp>
      </p:grpSp>
      <p:sp>
        <p:nvSpPr>
          <p:cNvPr id="34" name="Text 27"/>
          <p:cNvSpPr/>
          <p:nvPr/>
        </p:nvSpPr>
        <p:spPr>
          <a:xfrm>
            <a:off x="13198031" y="6413068"/>
            <a:ext cx="286473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ko-KR" altLang="en-US" sz="1600" dirty="0">
                <a:solidFill>
                  <a:srgbClr val="2B2218"/>
                </a:solidFill>
                <a:latin typeface="Franklin Gothic Medium Cond" panose="020B0606030402020204" pitchFamily="34" charset="0"/>
                <a:ea typeface="Georgia" pitchFamily="34" charset="-122"/>
                <a:cs typeface="Georgia" pitchFamily="34" charset="-120"/>
              </a:rPr>
              <a:t>하 율</a:t>
            </a:r>
            <a:r>
              <a:rPr lang="en-US" sz="1600" dirty="0">
                <a:solidFill>
                  <a:srgbClr val="2B2218"/>
                </a:solidFill>
                <a:latin typeface="Franklin Gothic Medium Cond" panose="020B0606030402020204" pitchFamily="34" charset="0"/>
                <a:ea typeface="Georgia" pitchFamily="34" charset="-122"/>
                <a:cs typeface="Georgia" pitchFamily="34" charset="-120"/>
              </a:rPr>
              <a:t> · </a:t>
            </a:r>
            <a:r>
              <a:rPr lang="ko-KR" altLang="en-US" sz="1600" dirty="0">
                <a:solidFill>
                  <a:srgbClr val="2B2218"/>
                </a:solidFill>
                <a:latin typeface="Franklin Gothic Medium Cond" panose="020B0606030402020204" pitchFamily="34" charset="0"/>
                <a:ea typeface="Georgia" pitchFamily="34" charset="-122"/>
                <a:cs typeface="Georgia" pitchFamily="34" charset="-120"/>
              </a:rPr>
              <a:t>채 원</a:t>
            </a:r>
            <a:endParaRPr lang="en-US" sz="1600" dirty="0">
              <a:latin typeface="Franklin Gothic Medium Cond" panose="020B0606030402020204" pitchFamily="34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13198031" y="6706982"/>
            <a:ext cx="28647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2027. 11. 08. Mon AM 11:00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3198031" y="6931952"/>
            <a:ext cx="28647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ko-KR" altLang="en-US" sz="1200" dirty="0" smtClean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롯데 호텔 크리스탈 </a:t>
            </a:r>
            <a:r>
              <a:rPr lang="ko-KR" altLang="en-US" sz="1200" dirty="0" err="1" smtClean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볼룸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13011150" y="7361029"/>
            <a:ext cx="3238500" cy="9525"/>
          </a:xfrm>
          <a:prstGeom prst="rect">
            <a:avLst/>
          </a:prstGeom>
          <a:solidFill>
            <a:srgbClr val="E5D6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/>
          <p:nvPr/>
        </p:nvSpPr>
        <p:spPr>
          <a:xfrm>
            <a:off x="13068300" y="7462628"/>
            <a:ext cx="9609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15168067" y="7367378"/>
            <a:ext cx="9525" cy="342900"/>
          </a:xfrm>
          <a:prstGeom prst="rect">
            <a:avLst/>
          </a:prstGeom>
          <a:solidFill>
            <a:srgbClr val="E5D6BF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41" name="Text 34"/>
          <p:cNvSpPr/>
          <p:nvPr/>
        </p:nvSpPr>
        <p:spPr>
          <a:xfrm>
            <a:off x="14149884" y="7462628"/>
            <a:ext cx="9610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길안내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5231567" y="7462628"/>
            <a:ext cx="9609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축의금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44" name="Text 37"/>
          <p:cNvSpPr/>
          <p:nvPr/>
        </p:nvSpPr>
        <p:spPr>
          <a:xfrm>
            <a:off x="16830180" y="9696450"/>
            <a:ext cx="69582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/ 24</a:t>
            </a:r>
            <a:endParaRPr lang="en-US" sz="1050" dirty="0"/>
          </a:p>
        </p:txBody>
      </p:sp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AA0CCAF7-5B9E-EEFF-522F-BD4942824BA2}"/>
              </a:ext>
            </a:extLst>
          </p:cNvPr>
          <p:cNvSpPr/>
          <p:nvPr/>
        </p:nvSpPr>
        <p:spPr>
          <a:xfrm>
            <a:off x="14418644" y="7917969"/>
            <a:ext cx="423511" cy="400148"/>
          </a:xfrm>
          <a:prstGeom prst="flowChartConnector">
            <a:avLst/>
          </a:prstGeom>
          <a:noFill/>
          <a:ln>
            <a:solidFill>
              <a:srgbClr val="C6AC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Shape 33"/>
          <p:cNvSpPr/>
          <p:nvPr/>
        </p:nvSpPr>
        <p:spPr>
          <a:xfrm>
            <a:off x="14016534" y="7364887"/>
            <a:ext cx="9525" cy="342900"/>
          </a:xfrm>
          <a:prstGeom prst="rect">
            <a:avLst/>
          </a:prstGeom>
          <a:solidFill>
            <a:srgbClr val="E5D6BF"/>
          </a:solidFill>
          <a:ln/>
        </p:spPr>
        <p:txBody>
          <a:bodyPr/>
          <a:lstStyle/>
          <a:p>
            <a:endParaRPr lang="ko-KR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15762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05-3 · FEATURE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138388" y="609600"/>
            <a:ext cx="127724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응대 &amp; 통계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19250"/>
            <a:ext cx="133640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12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· 03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1336408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kern="0" spc="45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 · 방명록 · </a:t>
            </a:r>
            <a:r>
              <a:rPr lang="en-US" sz="4500" i="1" kern="0" spc="45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축의금 · 통계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4174849" y="2152650"/>
            <a:ext cx="327495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하객 응답을 자동으로 집계하고, </a:t>
            </a:r>
            <a:r>
              <a:rPr lang="en-US" sz="1500" dirty="0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br>
              <a:rPr lang="en-US" sz="1500" dirty="0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500" dirty="0" err="1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축의금</a:t>
            </a:r>
            <a:r>
              <a:rPr lang="en-US" sz="1500" dirty="0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송금까지 한 곳에서 관리합니다.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8200" y="3143250"/>
            <a:ext cx="3981450" cy="27305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35025" y="31400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35025" y="31400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83125" y="31400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16475" y="31400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35025" y="5870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35025" y="57372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83125" y="5870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816475" y="57372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" y="3492500"/>
            <a:ext cx="419100" cy="4191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49350" y="4121150"/>
            <a:ext cx="34599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RSVP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49350" y="4540250"/>
            <a:ext cx="345992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참석여부 · 식사 · 동반인 수를 한 폼으로 응답. </a:t>
            </a:r>
            <a:b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200" dirty="0" err="1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Alimtalk</a:t>
            </a:r>
            <a: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알림 연동으로 자동 안내.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9350" y="5397500"/>
            <a:ext cx="345992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347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COLLECTION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48250" y="3143250"/>
            <a:ext cx="3981450" cy="27305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045075" y="31400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5045075" y="31400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8893175" y="31400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9026525" y="31400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5045075" y="5870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045075" y="57372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8893175" y="5870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9026525" y="57372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400" y="3492500"/>
            <a:ext cx="419100" cy="4191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59400" y="4121150"/>
            <a:ext cx="34599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방명록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5359400" y="4540250"/>
            <a:ext cx="345992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하객 메시지를 가독성 있게 보여주고, </a:t>
            </a:r>
            <a:b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200" dirty="0" err="1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본인글</a:t>
            </a:r>
            <a: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비밀번호 삭제를 지원.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359400" y="5397500"/>
            <a:ext cx="345992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347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SELF-MANAGED POSTS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9258300" y="3143250"/>
            <a:ext cx="3981450" cy="27305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9255125" y="31400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9255125" y="31400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13103226" y="31400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13236576" y="31400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9255125" y="5870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6"/>
          <p:cNvSpPr/>
          <p:nvPr/>
        </p:nvSpPr>
        <p:spPr>
          <a:xfrm>
            <a:off x="9255125" y="57372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13103226" y="5870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8"/>
          <p:cNvSpPr/>
          <p:nvPr/>
        </p:nvSpPr>
        <p:spPr>
          <a:xfrm>
            <a:off x="13236576" y="57372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450" y="3492500"/>
            <a:ext cx="419100" cy="41910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9569450" y="4121150"/>
            <a:ext cx="34599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간편 축의금</a:t>
            </a:r>
            <a:endParaRPr lang="en-US" sz="1800" dirty="0"/>
          </a:p>
        </p:txBody>
      </p:sp>
      <p:sp>
        <p:nvSpPr>
          <p:cNvPr id="45" name="Text 40"/>
          <p:cNvSpPr/>
          <p:nvPr/>
        </p:nvSpPr>
        <p:spPr>
          <a:xfrm>
            <a:off x="9569450" y="4540250"/>
            <a:ext cx="345992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PortOne PG 연동을 통한 안전한 송금, </a:t>
            </a:r>
            <a:b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200" dirty="0" err="1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송금자</a:t>
            </a:r>
            <a: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이름 · 금액 자동 기록.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9569450" y="5397500"/>
            <a:ext cx="345992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347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TRANSFER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13468350" y="3143250"/>
            <a:ext cx="3981450" cy="273050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3"/>
          <p:cNvSpPr/>
          <p:nvPr/>
        </p:nvSpPr>
        <p:spPr>
          <a:xfrm>
            <a:off x="13465176" y="31400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4"/>
          <p:cNvSpPr/>
          <p:nvPr/>
        </p:nvSpPr>
        <p:spPr>
          <a:xfrm>
            <a:off x="13465176" y="31400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5"/>
          <p:cNvSpPr/>
          <p:nvPr/>
        </p:nvSpPr>
        <p:spPr>
          <a:xfrm>
            <a:off x="17313276" y="31400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6"/>
          <p:cNvSpPr/>
          <p:nvPr/>
        </p:nvSpPr>
        <p:spPr>
          <a:xfrm>
            <a:off x="17446626" y="314007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7"/>
          <p:cNvSpPr/>
          <p:nvPr/>
        </p:nvSpPr>
        <p:spPr>
          <a:xfrm>
            <a:off x="13465176" y="5870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8"/>
          <p:cNvSpPr/>
          <p:nvPr/>
        </p:nvSpPr>
        <p:spPr>
          <a:xfrm>
            <a:off x="13465176" y="57372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9"/>
          <p:cNvSpPr/>
          <p:nvPr/>
        </p:nvSpPr>
        <p:spPr>
          <a:xfrm>
            <a:off x="17313276" y="587057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0"/>
          <p:cNvSpPr/>
          <p:nvPr/>
        </p:nvSpPr>
        <p:spPr>
          <a:xfrm>
            <a:off x="17446626" y="57372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9501" y="3492500"/>
            <a:ext cx="419100" cy="419100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13779501" y="4121150"/>
            <a:ext cx="34599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통계 대시보드</a:t>
            </a:r>
            <a:endParaRPr lang="en-US" sz="1800" dirty="0"/>
          </a:p>
        </p:txBody>
      </p:sp>
      <p:sp>
        <p:nvSpPr>
          <p:cNvPr id="58" name="Text 52"/>
          <p:cNvSpPr/>
          <p:nvPr/>
        </p:nvSpPr>
        <p:spPr>
          <a:xfrm>
            <a:off x="13779501" y="4540250"/>
            <a:ext cx="345992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참석률 · 식사율 · 동반인 평균을 한눈에, </a:t>
            </a:r>
            <a:b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200" dirty="0" err="1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주최자용</a:t>
            </a:r>
            <a:r>
              <a:rPr lang="en-US" sz="12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정산 보고서 출력.</a:t>
            </a:r>
            <a:endParaRPr lang="en-US" sz="1200" dirty="0"/>
          </a:p>
        </p:txBody>
      </p:sp>
      <p:sp>
        <p:nvSpPr>
          <p:cNvPr id="59" name="Text 53"/>
          <p:cNvSpPr/>
          <p:nvPr/>
        </p:nvSpPr>
        <p:spPr>
          <a:xfrm>
            <a:off x="13779501" y="5397500"/>
            <a:ext cx="345992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347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HOST ONLY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838200" y="8845550"/>
            <a:ext cx="464820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하객 응답 → 자동 집계 → 주최자 대시보드 → 정산 보고서</a:t>
            </a:r>
            <a:endParaRPr lang="en-US" sz="1400" dirty="0"/>
          </a:p>
        </p:txBody>
      </p:sp>
      <p:sp>
        <p:nvSpPr>
          <p:cNvPr id="61" name="Text 55"/>
          <p:cNvSpPr/>
          <p:nvPr/>
        </p:nvSpPr>
        <p:spPr>
          <a:xfrm>
            <a:off x="15647591" y="8864600"/>
            <a:ext cx="18784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FLOW</a:t>
            </a:r>
            <a:endParaRPr lang="en-US" sz="1125" dirty="0"/>
          </a:p>
        </p:txBody>
      </p:sp>
      <p:sp>
        <p:nvSpPr>
          <p:cNvPr id="62" name="Text 56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63" name="Text 57"/>
          <p:cNvSpPr/>
          <p:nvPr/>
        </p:nvSpPr>
        <p:spPr>
          <a:xfrm>
            <a:off x="16849527" y="9696450"/>
            <a:ext cx="67647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/ 24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16071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· LIVE DEMO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169246" y="609600"/>
            <a:ext cx="64531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시연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19250"/>
            <a:ext cx="550199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12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06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5501991" cy="943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kern="0" spc="6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</a:t>
            </a:r>
            <a:r>
              <a:rPr lang="en-US" sz="6600" i="1" kern="0" spc="6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38200" y="2988940"/>
            <a:ext cx="550199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웹사이트로 직접 만나보는 Wedding Platform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38200" y="3503380"/>
            <a:ext cx="6781800" cy="4210050"/>
          </a:xfrm>
          <a:prstGeom prst="roundRect">
            <a:avLst>
              <a:gd name="adj" fmla="val 4072"/>
            </a:avLst>
          </a:prstGeom>
          <a:solidFill>
            <a:srgbClr val="0F0C0A"/>
          </a:solidFill>
          <a:ln/>
          <a:effectLst>
            <a:outerShdw blurRad="762000" dist="285750" dir="5400000" algn="bl" rotWithShape="0">
              <a:srgbClr val="281C1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90600" y="3655780"/>
            <a:ext cx="6477000" cy="3905250"/>
          </a:xfrm>
          <a:prstGeom prst="roundRect">
            <a:avLst>
              <a:gd name="adj" fmla="val 1463"/>
            </a:avLst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14450" y="3865330"/>
            <a:ext cx="213260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kern="0" spc="6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Wedding &amp;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2218" y="3916129"/>
            <a:ext cx="2287733" cy="26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225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· 청첩장 · 추천 · 마이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14450" y="4436830"/>
            <a:ext cx="6004179" cy="834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kern="0" spc="29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두 사람의 시작, 한 페이지에.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314450" y="5347261"/>
            <a:ext cx="6004179" cy="794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맞춤 업체 추천부터 모바일 </a:t>
            </a:r>
            <a:r>
              <a:rPr lang="en-US" sz="1400" dirty="0" err="1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청첩장</a:t>
            </a:r>
            <a:r>
              <a:rPr lang="en-US" sz="14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br>
              <a:rPr lang="en-US" sz="1400" dirty="0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400" dirty="0" err="1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제작까지</a:t>
            </a:r>
            <a:r>
              <a:rPr lang="en-US" sz="1400" dirty="0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한번에 완성하세요.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14450" y="6317691"/>
            <a:ext cx="1378049" cy="279400"/>
          </a:xfrm>
          <a:prstGeom prst="rect">
            <a:avLst/>
          </a:prstGeom>
          <a:solidFill>
            <a:srgbClr val="2B221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04950" y="6403416"/>
            <a:ext cx="1073249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kern="0" spc="225" dirty="0">
                <a:solidFill>
                  <a:srgbClr val="FB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NOW →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67250" y="5179780"/>
            <a:ext cx="1212850" cy="9652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35500" y="5186130"/>
            <a:ext cx="127635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5956300" y="5179780"/>
            <a:ext cx="1212850" cy="9652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24550" y="5186130"/>
            <a:ext cx="127635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4667250" y="6221180"/>
            <a:ext cx="1212850" cy="9652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35500" y="6227530"/>
            <a:ext cx="127635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5956300" y="6221180"/>
            <a:ext cx="1212850" cy="9652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924550" y="6227530"/>
            <a:ext cx="127635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906176" y="7713430"/>
            <a:ext cx="6667500" cy="133350"/>
          </a:xfrm>
          <a:prstGeom prst="rect">
            <a:avLst/>
          </a:prstGeom>
          <a:solidFill>
            <a:srgbClr val="0F0C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2496800" y="3238500"/>
            <a:ext cx="4953000" cy="2143125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2493626" y="323532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2493626" y="32353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7313276" y="3235325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7446626" y="3235325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2493626" y="53784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2493626" y="524510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7313276" y="5378450"/>
            <a:ext cx="139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7446626" y="5245100"/>
            <a:ext cx="9525" cy="139700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2807951" y="3587750"/>
            <a:ext cx="44606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r>
              <a:rPr lang="en-US" sz="105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URL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2807951" y="4171950"/>
            <a:ext cx="43307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>
            <a:hlinkClick r:id="rId7"/>
          </p:cNvPr>
          <p:cNvSpPr/>
          <p:nvPr/>
        </p:nvSpPr>
        <p:spPr>
          <a:xfrm>
            <a:off x="12807951" y="3816350"/>
            <a:ext cx="446062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u="sng" kern="0" spc="17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wedding-platform-orpin-xi.vercel.app ↗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807951" y="4492625"/>
            <a:ext cx="44606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2807951" y="5026025"/>
            <a:ext cx="4330700" cy="9525"/>
          </a:xfrm>
          <a:prstGeom prst="rect">
            <a:avLst/>
          </a:prstGeom>
          <a:solidFill>
            <a:srgbClr val="D9CDB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>
            <a:hlinkClick r:id="rId8"/>
          </p:cNvPr>
          <p:cNvSpPr/>
          <p:nvPr/>
        </p:nvSpPr>
        <p:spPr>
          <a:xfrm>
            <a:off x="12807951" y="4721225"/>
            <a:ext cx="44606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u="sng" kern="0" spc="14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github.com/HaYul0611/WeddingPlatform ↗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2496800" y="5572125"/>
            <a:ext cx="4953000" cy="1682750"/>
          </a:xfrm>
          <a:prstGeom prst="rect">
            <a:avLst/>
          </a:prstGeom>
          <a:solidFill>
            <a:srgbClr val="FFFDFA"/>
          </a:solidFill>
          <a:ln w="6350">
            <a:solidFill>
              <a:srgbClr val="D9CD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61925" y="5937250"/>
            <a:ext cx="952500" cy="952500"/>
          </a:xfrm>
          <a:prstGeom prst="rect">
            <a:avLst/>
          </a:prstGeom>
        </p:spPr>
      </p:pic>
      <p:sp>
        <p:nvSpPr>
          <p:cNvPr id="49" name="Shape 47"/>
          <p:cNvSpPr/>
          <p:nvPr/>
        </p:nvSpPr>
        <p:spPr>
          <a:xfrm>
            <a:off x="12712701" y="5788025"/>
            <a:ext cx="1250950" cy="125095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6350">
            <a:solidFill>
              <a:srgbClr val="B899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14154149" y="6057899"/>
            <a:ext cx="2235777" cy="258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 spc="378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 &amp; YOURS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4154149" y="6254750"/>
            <a:ext cx="298450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두 사람의 시작을 가장 우아하게 전합니다.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16840200" y="9696450"/>
            <a:ext cx="6858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/ 24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27066" y="2341732"/>
            <a:ext cx="3505200" cy="6743700"/>
          </a:xfrm>
          <a:prstGeom prst="roundRect">
            <a:avLst>
              <a:gd name="adj" fmla="val 12500"/>
            </a:avLst>
          </a:prstGeom>
          <a:solidFill>
            <a:srgbClr val="0F0C0A"/>
          </a:solidFill>
          <a:ln/>
          <a:effectLst>
            <a:outerShdw blurRad="762000" dist="285750" dir="5400000" algn="bl" rotWithShape="0">
              <a:srgbClr val="281C1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260416" y="2475082"/>
            <a:ext cx="3238500" cy="6477000"/>
          </a:xfrm>
          <a:prstGeom prst="roundRect">
            <a:avLst>
              <a:gd name="adj" fmla="val 10588"/>
            </a:avLst>
          </a:prstGeom>
          <a:solidFill>
            <a:srgbClr val="FBF7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447297" y="2798932"/>
            <a:ext cx="2864739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25" kern="0" spc="347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INVITE YOU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8447297" y="3059877"/>
            <a:ext cx="2864739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kern="0" spc="96" dirty="0" err="1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Hayul</a:t>
            </a:r>
            <a:r>
              <a:rPr lang="en-US" kern="0" spc="9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</a:t>
            </a:r>
            <a:r>
              <a:rPr lang="en-US" kern="0" spc="96" dirty="0" err="1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Chaewon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447297" y="3501798"/>
            <a:ext cx="286473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 smtClean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2027. 11. 08.</a:t>
            </a:r>
            <a:endParaRPr lang="en-US" sz="1200" dirty="0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61AE50B-48BB-20EC-4A40-8DD656EDB0DA}"/>
              </a:ext>
            </a:extLst>
          </p:cNvPr>
          <p:cNvGrpSpPr/>
          <p:nvPr/>
        </p:nvGrpSpPr>
        <p:grpSpPr>
          <a:xfrm>
            <a:off x="8584266" y="3842825"/>
            <a:ext cx="2590800" cy="2330450"/>
            <a:chOff x="7378700" y="4649158"/>
            <a:chExt cx="2590800" cy="2330450"/>
          </a:xfrm>
        </p:grpSpPr>
        <p:sp>
          <p:nvSpPr>
            <p:cNvPr id="30" name="Shape 28"/>
            <p:cNvSpPr/>
            <p:nvPr/>
          </p:nvSpPr>
          <p:spPr>
            <a:xfrm>
              <a:off x="7410450" y="4649158"/>
              <a:ext cx="2527300" cy="2298700"/>
            </a:xfrm>
            <a:prstGeom prst="rect">
              <a:avLst/>
            </a:prstGeom>
            <a:blipFill>
              <a:blip r:embed="rId11"/>
              <a:stretch>
                <a:fillRect/>
              </a:stretch>
            </a:blipFill>
            <a:ln w="6350">
              <a:solidFill>
                <a:srgbClr val="B8996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7378700" y="4655508"/>
              <a:ext cx="2590800" cy="2324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endParaRPr lang="en-US" sz="975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8401410" y="6316665"/>
            <a:ext cx="2979902" cy="981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2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소중한 분들을 모십니다. </a:t>
            </a:r>
            <a:r>
              <a:rPr lang="en-US" sz="1200" dirty="0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br>
              <a:rPr lang="en-US" sz="1200" dirty="0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200" dirty="0" err="1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참석하시어</a:t>
            </a:r>
            <a:r>
              <a:rPr lang="en-US" sz="1200" dirty="0" smtClean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축하해주시면 감사하겠습니다.</a:t>
            </a:r>
            <a:endParaRPr lang="en-US" sz="1200" dirty="0"/>
          </a:p>
        </p:txBody>
      </p:sp>
      <p:sp>
        <p:nvSpPr>
          <p:cNvPr id="58" name="순서도: 연결자 57">
            <a:extLst>
              <a:ext uri="{FF2B5EF4-FFF2-40B4-BE49-F238E27FC236}">
                <a16:creationId xmlns:a16="http://schemas.microsoft.com/office/drawing/2014/main" id="{494BA6D0-E432-D5A6-B5E9-7B100F023FE9}"/>
              </a:ext>
            </a:extLst>
          </p:cNvPr>
          <p:cNvSpPr/>
          <p:nvPr/>
        </p:nvSpPr>
        <p:spPr>
          <a:xfrm>
            <a:off x="9667910" y="8118043"/>
            <a:ext cx="423511" cy="400148"/>
          </a:xfrm>
          <a:prstGeom prst="flowChartConnector">
            <a:avLst/>
          </a:prstGeom>
          <a:noFill/>
          <a:ln>
            <a:solidFill>
              <a:srgbClr val="C6AC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739775"/>
            <a:ext cx="4572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466850" y="635000"/>
            <a:ext cx="17523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· REFLECTION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314402" y="609600"/>
            <a:ext cx="127724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39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소감 &amp; 회고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838200" y="1619250"/>
            <a:ext cx="971172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kern="0" spc="12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07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838200" y="2152650"/>
            <a:ext cx="9711723" cy="943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kern="0" spc="66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&amp; </a:t>
            </a:r>
            <a:r>
              <a:rPr lang="en-US" sz="6600" i="1" kern="0" spc="66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Ahead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38200" y="3229570"/>
            <a:ext cx="971172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3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느낀 점 · 아쉬운 점 · 다음 한 걸음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900" y="4095750"/>
            <a:ext cx="46791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19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248965" y="4311650"/>
            <a:ext cx="3069035" cy="3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· 느낀 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1997" y="5105995"/>
            <a:ext cx="5494020" cy="901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80000"/>
              </a:lnSpc>
            </a:pPr>
            <a:r>
              <a:rPr lang="ko-KR" altLang="en-US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아이디어가 서비스로 </a:t>
            </a:r>
            <a:r>
              <a:rPr lang="ko-KR" altLang="en-US" sz="1400" dirty="0" err="1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시각화되고</a:t>
            </a:r>
            <a:r>
              <a:rPr lang="ko-KR" altLang="en-US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배포되는 전 과정을 겪으며</a:t>
            </a:r>
            <a:r>
              <a:rPr lang="en-US" altLang="ko-KR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ko-KR" altLang="en-US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화면 속 작은 요소 하나에도 얼마나 치열한 고민과 결정이 쌓이는지 깊이 체감했습니다</a:t>
            </a:r>
            <a:r>
              <a:rPr lang="en-US" altLang="ko-KR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3900" y="6800274"/>
            <a:ext cx="5530215" cy="10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Router의 SSR/CSR 경계 설계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 · Storage 통합으로 백엔드 부담 감소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도메인을 명확히 나눈 ER 설계가 코드 품질을 좌우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13500" y="4095750"/>
            <a:ext cx="67091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19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141567" y="4311649"/>
            <a:ext cx="3344856" cy="33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REGRETS · 반성할 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72542" y="5143500"/>
            <a:ext cx="549402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80000"/>
              </a:lnSpc>
            </a:pPr>
            <a:r>
              <a:rPr lang="en-US" altLang="ko-KR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</a:t>
            </a:r>
            <a:r>
              <a:rPr lang="ko-KR" altLang="en-US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모델이 업데이트되면서 토큰 계산이 어긋났을 때 정말 아쉬웠습니다</a:t>
            </a:r>
            <a:r>
              <a:rPr lang="en-US" altLang="ko-KR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r>
              <a:rPr lang="ko-KR" altLang="en-US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하지만 그 덕분에 화면 뒤에서 일어나는 기술적 환경 변화에 늘 깨어있어야 한다는 좋은 예방주사를 맞았습니다</a:t>
            </a:r>
            <a:r>
              <a:rPr lang="en-US" altLang="ko-KR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4445" y="6795710"/>
            <a:ext cx="5530215" cy="10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한도 변동으로 계획 대비 작업량 축소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 화면의 디테일 다듬기를 끝까지 마치지 못한 점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단말 · 환경 테스트가 충분치 못했던 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7700" y="4095750"/>
            <a:ext cx="87391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192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3008768" y="4311650"/>
            <a:ext cx="3425031" cy="336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kern="0" spc="410" dirty="0">
                <a:solidFill>
                  <a:srgbClr val="967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· 보완·삽입 계획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966892" y="5105995"/>
            <a:ext cx="6016308" cy="901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80000"/>
              </a:lnSpc>
            </a:pPr>
            <a:r>
              <a:rPr lang="ko-KR" altLang="en-US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향후 </a:t>
            </a:r>
            <a:r>
              <a:rPr lang="en-US" altLang="ko-KR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</a:t>
            </a:r>
            <a:r>
              <a:rPr lang="ko-KR" altLang="en-US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모델의 비즈니스 </a:t>
            </a:r>
            <a:r>
              <a:rPr lang="ko-KR" altLang="en-US" sz="1400" dirty="0" err="1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로직을</a:t>
            </a:r>
            <a:r>
              <a:rPr lang="ko-KR" altLang="en-US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정교화하고 차별화된 모바일 템플릿을 확장하는 한편</a:t>
            </a:r>
            <a:r>
              <a:rPr lang="en-US" altLang="ko-KR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ko-KR" altLang="en-US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누적된 사용자 데이터를 기반으로 맞춤형 고도화 기능을 순차적으로 구현할 계획입니다</a:t>
            </a:r>
            <a:r>
              <a:rPr lang="en-US" altLang="ko-KR" sz="1400" dirty="0">
                <a:solidFill>
                  <a:srgbClr val="2B2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966892" y="6795710"/>
            <a:ext cx="5530215" cy="10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모델 정교화 · 구독 플랜 세분화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차별화된 모바일 청첩장 템플릿 추가 도입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5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데이터 기반의 신규 기능 지속 추가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841688" y="9696450"/>
            <a:ext cx="68431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9A8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/ 24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1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181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322081"/>
            <a:ext cx="19050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8391" y="2876550"/>
            <a:ext cx="33712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350" kern="0" spc="567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08 · CLOSING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838188" y="3314700"/>
            <a:ext cx="6611526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0" kern="0" spc="720" dirty="0">
                <a:solidFill>
                  <a:srgbClr val="F3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18000" dirty="0"/>
          </a:p>
        </p:txBody>
      </p:sp>
      <p:sp>
        <p:nvSpPr>
          <p:cNvPr id="6" name="Text 3"/>
          <p:cNvSpPr/>
          <p:nvPr/>
        </p:nvSpPr>
        <p:spPr>
          <a:xfrm>
            <a:off x="7920832" y="5886450"/>
            <a:ext cx="244623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975" dirty="0">
                <a:solidFill>
                  <a:srgbClr val="C9B6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질 의 응 답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6824167" y="7148513"/>
            <a:ext cx="7620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433987" y="6797675"/>
            <a:ext cx="3419929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600" kern="0" spc="330" dirty="0">
                <a:solidFill>
                  <a:srgbClr val="C9B6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감 사 합 니 다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10701735" y="7148513"/>
            <a:ext cx="762000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641259" y="7759700"/>
            <a:ext cx="100528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350" kern="0" spc="405" dirty="0">
                <a:solidFill>
                  <a:srgbClr val="C9B6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E-MAIL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66893" y="8470900"/>
            <a:ext cx="3554115" cy="9525"/>
          </a:xfrm>
          <a:prstGeom prst="rect">
            <a:avLst/>
          </a:prstGeom>
          <a:solidFill>
            <a:srgbClr val="B899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3582" y="8089900"/>
            <a:ext cx="36607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kern="0" spc="270" dirty="0">
                <a:solidFill>
                  <a:srgbClr val="F3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ohayul.me@gmail.com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616897" y="8743950"/>
            <a:ext cx="30541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kern="0" spc="315" dirty="0">
                <a:solidFill>
                  <a:srgbClr val="807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WEDDING &amp; PLATFORM · 2026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8200" y="9664700"/>
            <a:ext cx="53647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B89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W&amp;P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833454" y="9696450"/>
            <a:ext cx="69254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8071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/ 24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2569</Words>
  <Application>Microsoft Office PowerPoint</Application>
  <PresentationFormat>사용자 지정</PresentationFormat>
  <Paragraphs>928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Noto Serif KR Black</vt:lpstr>
      <vt:lpstr>맑은 고딕</vt:lpstr>
      <vt:lpstr>Arial</vt:lpstr>
      <vt:lpstr>Calibri</vt:lpstr>
      <vt:lpstr>Courier New</vt:lpstr>
      <vt:lpstr>Franklin Gothic Medium Cond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14</cp:revision>
  <dcterms:created xsi:type="dcterms:W3CDTF">2026-05-21T16:53:54Z</dcterms:created>
  <dcterms:modified xsi:type="dcterms:W3CDTF">2026-05-22T02:09:03Z</dcterms:modified>
</cp:coreProperties>
</file>